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7357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שקופית פתיחה — חיזוק לינוקס למערכות מבצעיות מנותקות רשת.</a:t>
            </a:r>
          </a:p>
          <a:p>
            <a:pPr rtl="1"/>
            <a:r>
              <a:t>מטרת המצגת: להציג גישה הנדסית רב‑שכבתית להקשחת לינוקס בסביבות אוויר‑גאפ.</a:t>
            </a:r>
          </a:p>
          <a:p>
            <a:pPr rtl="1"/>
            <a:r>
              <a:t>שש מילות המפתח: חתום, מדוד, מינימלי, מוגבל, ניתן לביקורת, ניתן לשחזור.</a:t>
            </a:r>
          </a:p>
          <a:p>
            <a:pPr rtl="1"/>
            <a:r>
              <a:t>דגש פתיחה: אוויר‑גאפ אינו חסינות — להפוך 'תחושת ביטחון' לראיות הנדסיות מדידות.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למה לינוקס מבצעי בסביבה מנותקת שונה.</a:t>
            </a:r>
          </a:p>
          <a:p>
            <a:pPr rtl="1"/>
            <a:r>
              <a:t>שלוש נקודות: האוויר‑גאפ הוא בקרת רשת בלבד; ראשית עומס המשימה; ראיות מעל כוונות.</a:t>
            </a:r>
          </a:p>
          <a:p>
            <a:pPr rtl="1"/>
            <a:r>
              <a:t>מסר: 'הקשנו' אינו טענה תקפה ללא מדידה.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מודל איום — שש קטגוריות: שרשרת אספקה, מדיה נכנסת, זהויות פנימיות, התמדה באתחול, פריצת ריצה, איבוד ראיות.</a:t>
            </a:r>
          </a:p>
          <a:p>
            <a:pPr rtl="1"/>
            <a:r>
              <a:t>התשובה ההנדסית: קלטים חתומים, אתחול מדוד, הרשאות מינימום, הכלת ריצה, ראיות, שחזור מתורגל.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מודל הגנה רב‑שכבתי — כשל בשכבה מוכל ע"י הבאה.</a:t>
            </a:r>
          </a:p>
          <a:p>
            <a:pPr rtl="1"/>
            <a:r>
              <a:t>מהבסיס: פלטפורמה → קרנל → גישה → ריצה → ראיות → תפעול → בטחון → ממשל.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ארבעה עקרונות הנדסיים: הרשאות מינימום, שינוי דטרמיניסטי, בטחון נמדד, יכולת שחזור.</a:t>
            </a:r>
          </a:p>
          <a:p>
            <a:pPr rtl="1"/>
            <a:r>
              <a:t>היגיון: בקרה נבחרת לפי סיכון, התנהגות עומס ודרישות שחזור.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המתודולוגיה: 32 שיטות הקשחה ב‑11 משפחות.</a:t>
            </a:r>
          </a:p>
          <a:p>
            <a:pPr rtl="1"/>
            <a:r>
              <a:t>ספירה: פלטפורמה(4)+קרנל(3)+גישה(2)+ריצה(3)+FS(3)+מידע(1)+אספקה(3)+זהות(4)+רשת(2)+תפעול(3)+ראיות(2)+בטחון(1)+ממשל(1)=32.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תכנית בחמישה שלבים: הקמת אמון → צמצום הרשאות → צמצום שטח תקיפה → הגבלת ריצה → הוכחה ושחזור.</a:t>
            </a:r>
          </a:p>
          <a:p>
            <a:pPr rtl="1"/>
            <a:r>
              <a:t>חוק: בקרה לא נכנסת לפרודקשן ללא בדיקות פונקציונליות, אבטחה שליליות, ביצועים, rollback ובעלים.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מטריצת סיכון‑לבקרה. כל סיכון מהותי דורש שתיים+ משפחות בקרה וראיות אימות מוחשיות.</a:t>
            </a:r>
          </a:p>
          <a:p>
            <a:pPr rtl="1"/>
            <a:r>
              <a:t>תשובה לשאלת הביקורת: 'איך אתה יודע שהבקרה עובדת?'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דילמות מפתח — מתח בין רווח אבטחה לעלות ביצועים, בין סיכון זמינות לעומס תפעולי.</a:t>
            </a:r>
          </a:p>
          <a:p>
            <a:pPr rtl="1"/>
            <a:r>
              <a:t>חוק החלטה: בקרה שיכולה לחסום שחזור או דטרמיניזם דורשת תכנית אימות, rollback ובעל סיכון.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לולאת ולידציה: Baseline → Measure → Test → Correct/Enforce → חזרה.</a:t>
            </a:r>
          </a:p>
          <a:p>
            <a:pPr rtl="1"/>
            <a:r>
              <a:t>הקשחה היא ראיות חוזרות (PCR, FIM, benchmarks, שחזור), לא קונפיגורציה חד‑פעמית.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M01 — בסיס שורש‑אמון פלטפורמה. נעילת סדר אתחול, escrow ל‑UEFI, השבתת בקרים מיותרים, רישום baseline.</a:t>
            </a:r>
          </a:p>
          <a:p>
            <a:pPr rtl="1"/>
            <a:r>
              <a:t>איום: bootkits, מדיה עוקפת. ביצועים: זניח. אזהרה: השבתה פוגעת בתחזוקת חירום.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M02 — נעילת קושחה/UEFI. CSM כבוי, IOMMU, הגנת בעלות TPM, ייצוא הגדרות.</a:t>
            </a:r>
          </a:p>
          <a:p>
            <a:pPr rtl="1"/>
            <a:r>
              <a:t>ביצועים: IOMMU עלול להוסיף תקורה ל‑DMA — לבחון נתיב NIC/storage.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M03 — Secure Boot עם מפתחות מבוקרים. הפעלת UEFI SB, מפתחות ארגון, חתימת bootloader/kernel/modules.</a:t>
            </a:r>
          </a:p>
          <a:p>
            <a:pPr rtl="1"/>
            <a:r>
              <a:t>אזהרה: אובדן מפתח חוסם עדכוני חירום — escrow מחייב.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M04 — אתחול מדוד ב‑TPM ו‑attestation מקומי. PCR, golden profiles, event logs לאופליין.</a:t>
            </a:r>
          </a:p>
          <a:p>
            <a:pPr rtl="1"/>
            <a:r>
              <a:t>אזהרה: שינויי קושחה משנים PCR — צריך תזמורת.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M05 — הגנה עצמית של הקרנל: KASLR, SMEP/SMAP, mitigations, hardened usercopy, הגבלת eBPF.</a:t>
            </a:r>
          </a:p>
          <a:p>
            <a:pPr rtl="1"/>
            <a:r>
              <a:t>ביצועים: רוב זול; mitigations יקרות לעיתים.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M06 — Allowlist+חתימת מודולים. modules_disabled=1 לאחר אתחול בשרתים יציבים.</a:t>
            </a:r>
          </a:p>
          <a:p>
            <a:pPr rtl="1"/>
            <a:r>
              <a:t>אזהרה: בלתי הפיך עד reboot.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M07 — sysctl מוקשח: kptr/dmesg/ptrace_scope, השבתת BPF לא מורשה, הגדרות רשת.</a:t>
            </a:r>
          </a:p>
          <a:p>
            <a:pPr rtl="1"/>
            <a:r>
              <a:t>לבחון: שירותי connection rate גבוה.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M08 — אכיפת SELinux/AppArmor. ניתוח AVC לפני מדיניות מותאמת.</a:t>
            </a:r>
          </a:p>
          <a:p>
            <a:pPr rtl="1"/>
            <a:r>
              <a:t>אסור: permissive blanket.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M09 — מינימום capabilities. CapabilityBoundingSet ב‑systemd, הימנעות מ‑CAP_SYS_ADMIN.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M10 — סינון syscalls ב‑seccomp. SystemCallFilter, פרופילים פר‑שירות, בנייה מהתנהגות נצפית.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M11 — Namespaces+Cgroups. גבולות לפי מעטפת עומס נמדדת — לא ניחושים.</a:t>
            </a:r>
          </a:p>
          <a:p>
            <a:pPr rtl="1"/>
            <a:r>
              <a:t>תזכורת חשובה: chroot אינו גבול אבטחה — להעדיף namespaces+seccomp+MAC.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M12 — הקשחת mount: nodev/nosuid/noexec, הפרדה ל‑/var, /tmp, RO לתוכן סטטי.</a:t>
            </a:r>
          </a:p>
          <a:p>
            <a:pPr rtl="1"/>
            <a:r>
              <a:t>אזהרה: noexec שובר installers/JIT.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M13 — Immutable + append-only. שילוב עם FIM וחלונות תחזוקה.</a:t>
            </a:r>
          </a:p>
          <a:p>
            <a:pPr rtl="1"/>
            <a:r>
              <a:t>אזהרה: שימוש יתר תוקע עדכונים ושחזור.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M14 — שלמות dm-verity / fs-verity. Root hash מוגן בשרשרת אמון; הגדרת התנהגות בכשל 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M15 — LUKS2. AES-NI עם תקורה נמוכה; escrow למפתחות שחזור.</a:t>
            </a:r>
          </a:p>
          <a:p>
            <a:pPr rtl="1"/>
            <a:r>
              <a:t>חשוב: לא מגן בריצה כאשר נפתח.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M16 — מאגרים אופליין חתומים. intake → staging → approval → production.</a:t>
            </a:r>
          </a:p>
          <a:p>
            <a:pPr rtl="1"/>
            <a:r>
              <a:t>חובה: קצב עדכוני אבטחה.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M17 — SBOM (SPDX/CycloneDX) למקור, גרסה, hash, חתימה, רישוי, אישור.</a:t>
            </a:r>
          </a:p>
          <a:p>
            <a:pPr rtl="1"/>
            <a:r>
              <a:t>ערך: 'האם אנחנו חשופים?' תוך דקות.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M18 — הקשחת SSH: ללא root/password, AllowUsers/Groups, ללא forwarding מיותר.</a:t>
            </a:r>
          </a:p>
          <a:p>
            <a:pPr rtl="1"/>
            <a:r>
              <a:t>אזהרה: דורש break‑glass מתועד.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M19 — Firewall deny-by-default. רק פורטים/פרוטוקולים מתועדים. nftables/firewalld עקבי.</a:t>
            </a:r>
          </a:p>
          <a:p>
            <a:pPr rtl="1"/>
            <a:r>
              <a:t>אוויר‑גאפ ≠ אמון — סגמנטציה עדיין נדרשת.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M20 — סמכות זמן פנימית. NTP/PTP, GPS/רובידיום, holdover מוגדר.</a:t>
            </a:r>
          </a:p>
          <a:p>
            <a:pPr rtl="1"/>
            <a:r>
              <a:t>איום: drift פוסל אישורים, מטעה ציר זמן בלוגים.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M21 — DNS/resolver מקומיים. ללא fallback ציבורי וללא DoH מורשה.</a:t>
            </a:r>
          </a:p>
          <a:p>
            <a:pPr rtl="1"/>
            <a:r>
              <a:t>ערך: שמות מבצעיים פתורים גם בבידוד מלא.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M22 — זהות מקומית + PAM. quality/history/aging/lockout, השבתת ברירות מחדל.</a:t>
            </a:r>
          </a:p>
          <a:p>
            <a:pPr rtl="1"/>
            <a:r>
              <a:t>אזהרה: lockout אגרסיבי = DoS פנימי.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M23 — sudo ברמת מינימום. role-based, פקודות ספציפיות, sudo logging ל‑I/O ברגישים.</a:t>
            </a:r>
          </a:p>
          <a:p>
            <a:pPr rtl="1"/>
            <a:r>
              <a:t>איזון מול workarounds.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M24 — חשבונות שירות יעודיים. non-login, סיסמה נעולה, הרשאות מצומצמות, שילוב עם sandboxing.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M25 — sandboxing systemd: NoNewPrivileges, ProtectSystem, ProtectHome, PrivateTmp, MemoryDenyWriteExecute, SystemCallFilter.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M26 — Auditd, journald, ייצוא אופליין. WORM אם אפשר.</a:t>
            </a:r>
          </a:p>
          <a:p>
            <a:pPr rtl="1"/>
            <a:r>
              <a:t>איזון: כללים כבדים מעמיסים — לכייל.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M27 — FIM (AIDE/IMA-EVM). baselines מתמונות זהב, שמירה אופליין, re-baseline רק דרך 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M28 — סריקת malware/מדיה נכנסת. תחנת intake יעודית, allowlist סוגי קבצים.</a:t>
            </a:r>
          </a:p>
          <a:p>
            <a:pPr rtl="1"/>
            <a:r>
              <a:t>תזכורת: סריקה מעריכה סיכון, לא מוכיחה אמון.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M29 — מחזור חיי טלאים אופליין: רכש→אימות→סריקה→staging→מעבדה→רגרסיה→פרודקשן.</a:t>
            </a:r>
          </a:p>
          <a:p>
            <a:pPr rtl="1"/>
            <a:r>
              <a:t>חובה: נתיב טלאי חירום מוגדר מראש.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M30 — גיבוי מהימן + golden images. הפרדת OS/app/config/data, immutable, bare-metal restore.</a:t>
            </a:r>
          </a:p>
          <a:p>
            <a:pPr rtl="1"/>
            <a:r>
              <a:t>חוק: גיבוי שלא נבדק — אינו גיבוי.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M31 — שער רגרסיה אבטחה‑ביצועים. baseline לפני, מדידת CPU/IO/network/boot/failover, רישום גרסאות.</a:t>
            </a:r>
          </a:p>
          <a:p>
            <a:pPr rtl="1"/>
            <a:r>
              <a:t>ערך: הקשחה הופכת מ‑'דעה' ל‑'נתון'.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M32 — ממשל waivers. תיעוד בעלים, סיכון, מפצים, תוקף, אישור. waiver קבוע = סיכון שיורי מקובל.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המלצת סיום: baseline קטן, חתום, מדוד, מינימום, ניתן לביקורת ולשחזור.</a:t>
            </a:r>
          </a:p>
          <a:p>
            <a:pPr rtl="1"/>
            <a:r>
              <a:t>תפעול: imports מבוקרים, שערי ביצועים, ראיות, rollback מבוסס‑בדיקות, waivers בעלי תוקף.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מילון מונחים — הרחבות קומפקטיות (AIDE, BPF, FIM, IOMMU, KSPP, LUKS2, MAC, MOK, PAM, PCR, PTP, SBOM, TPM, UEFI, WORM).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1"/>
            <a:r>
              <a:t>הפניות: NIST 800-123/800-53r5, DISA STIGs, RHEL 9 Hardening, SELinux docs, dm-verity/fs-verity, systemd.exec, OpenSCAP.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7648"/>
            <a:ext cx="12191695" cy="530352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2024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3756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0684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2416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4148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6217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MISSION-CRITICAL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91440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Linux Hardening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658368" y="1572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5F2EE"/>
                </a:solidFill>
              </a:rPr>
              <a:t>for Air-Gapped Performance-Oriented Environments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" y="53492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</a:rPr>
              <a:t>A layered engineering strategy for boot trust, kernel containment, identity, supply chain, audit evidence, and recoverable operations.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43800" y="1133856"/>
            <a:ext cx="2194560" cy="1508760"/>
          </a:xfrm>
          <a:prstGeom prst="hexagon">
            <a:avLst/>
          </a:prstGeom>
          <a:solidFill>
            <a:srgbClr val="F59E0B">
              <a:alpha val="92000"/>
            </a:srgbClr>
          </a:solidFill>
          <a:ln w="1016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82712" y="1645920"/>
            <a:ext cx="2011680" cy="1399032"/>
          </a:xfrm>
          <a:prstGeom prst="hexagon">
            <a:avLst/>
          </a:prstGeom>
          <a:solidFill>
            <a:srgbClr val="E11D48">
              <a:alpha val="92000"/>
            </a:srgbClr>
          </a:solidFill>
          <a:ln w="1016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21624" y="2157984"/>
            <a:ext cx="1828800" cy="1289304"/>
          </a:xfrm>
          <a:prstGeom prst="hexagon">
            <a:avLst/>
          </a:prstGeom>
          <a:solidFill>
            <a:srgbClr val="7C3AED">
              <a:alpha val="92000"/>
            </a:srgbClr>
          </a:solidFill>
          <a:ln w="1016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0536" y="2670048"/>
            <a:ext cx="1645920" cy="1179576"/>
          </a:xfrm>
          <a:prstGeom prst="hexagon">
            <a:avLst/>
          </a:prstGeom>
          <a:solidFill>
            <a:srgbClr val="00A896">
              <a:alpha val="92000"/>
            </a:srgbClr>
          </a:solidFill>
          <a:ln w="1016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99448" y="3182112"/>
            <a:ext cx="1463040" cy="1069848"/>
          </a:xfrm>
          <a:prstGeom prst="hexagon">
            <a:avLst/>
          </a:prstGeom>
          <a:solidFill>
            <a:srgbClr val="10B981">
              <a:alpha val="92000"/>
            </a:srgbClr>
          </a:solidFill>
          <a:ln w="1016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06640" y="5257800"/>
            <a:ext cx="3886200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544068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SIGNED | MEASURED | MINIMAL | CONFINED | AUDITABLE | RECOVERABLE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" y="6144768"/>
            <a:ext cx="10881360" cy="292608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12700">
            <a:solidFill>
              <a:srgbClr val="1F2937">
                <a:alpha val="6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6245352"/>
            <a:ext cx="10515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</a:rPr>
              <a:t>Doc ID: LNX-HARD-AIRGAP-PPT-001 | Version 1.1 | Draft - Fixed for PowerPoint &amp; Font Size | 2026-04-27 | Baseline: LNX-HARD-AIRGAP-BASELINE-001 | Internal / Program Review</a:t>
            </a:r>
            <a:endParaRPr lang="en-US" sz="1200" dirty="0"/>
          </a:p>
        </p:txBody>
      </p:sp>
      <p:pic>
        <p:nvPicPr>
          <p:cNvPr id="25" name="Picture 24" descr="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03120"/>
            <a:ext cx="658368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Air-Gapped Linux Is Different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Security, performance, deterministic operations, and recovery have to be engineered together.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192024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636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Air gap is not immunity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86968" y="1856232"/>
            <a:ext cx="2935224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Removable media, maintenance laptops, insiders, vendor packages, and recovery channels remain active attack paths.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07992" y="141732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1732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5636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Mission workload first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09160" y="1856232"/>
            <a:ext cx="2935224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Hardening is acceptable only when latency, throughput, failover, and recovery remain inside mission thresholds.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330184" y="141732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417320"/>
            <a:ext cx="73152" cy="1920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31352" y="15636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Evidence over intent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31352" y="1856232"/>
            <a:ext cx="2935224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Each control needs a protected use case, technical implementation, validation method, and performance decision record.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97280" y="4160520"/>
            <a:ext cx="9966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617720"/>
            <a:ext cx="1783080" cy="658368"/>
          </a:xfrm>
          <a:prstGeom prst="roundRect">
            <a:avLst>
              <a:gd name="adj" fmla="val 8333"/>
            </a:avLst>
          </a:prstGeom>
          <a:solidFill>
            <a:srgbClr val="E6F4F1"/>
          </a:solidFill>
          <a:ln w="1016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4837176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Attack paths reduced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063240" y="4617720"/>
            <a:ext cx="1783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2112" y="4837176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Privileges constrained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4617720"/>
            <a:ext cx="1783080" cy="658368"/>
          </a:xfrm>
          <a:prstGeom prst="roundRect">
            <a:avLst>
              <a:gd name="adj" fmla="val 8333"/>
            </a:avLst>
          </a:prstGeom>
          <a:solidFill>
            <a:srgbClr val="E6F4F1"/>
          </a:solidFill>
          <a:ln w="1016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22392" y="4837176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State measured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43800" y="4617720"/>
            <a:ext cx="1783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62672" y="4837176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Change controlled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784080" y="4617720"/>
            <a:ext cx="1783080" cy="658368"/>
          </a:xfrm>
          <a:prstGeom prst="roundRect">
            <a:avLst>
              <a:gd name="adj" fmla="val 8333"/>
            </a:avLst>
          </a:prstGeom>
          <a:solidFill>
            <a:srgbClr val="E6F4F1"/>
          </a:solidFill>
          <a:ln w="1016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02952" y="4837176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Recovery tested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Mission framing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Threat Model: Paths That Still Exist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Disconnected systems still have maintenance, media, supply-chain, and insider paths.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" y="1298448"/>
            <a:ext cx="3246120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298448"/>
            <a:ext cx="73152" cy="133502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447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Supply chain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737360"/>
            <a:ext cx="293522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Firmware, package, driver, or dependency arrives already compromised.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6432" y="1719072"/>
            <a:ext cx="292608" cy="292608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3246120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298448"/>
            <a:ext cx="73152" cy="133502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4447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Media intake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1737360"/>
            <a:ext cx="293522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USB, optical media, or maintenance laptop introduces malware.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69480" y="1719072"/>
            <a:ext cx="292608" cy="292608"/>
          </a:xfrm>
          <a:prstGeom prst="chevron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298448"/>
            <a:ext cx="3246120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47888" y="1298448"/>
            <a:ext cx="73152" cy="13350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14447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Insider / stale identity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49056" y="1737360"/>
            <a:ext cx="293522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Authorized account or shared credential becomes the attack path.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082528" y="1719072"/>
            <a:ext cx="292608" cy="292608"/>
          </a:xfrm>
          <a:prstGeom prst="chevron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3236976"/>
            <a:ext cx="3246120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" y="3236976"/>
            <a:ext cx="73152" cy="13350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383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Boot persistence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3675888"/>
            <a:ext cx="293522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Bootloader, kernel, initramfs, or root FS is modified.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56432" y="3657600"/>
            <a:ext cx="292608" cy="292608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34840" y="3236976"/>
            <a:ext cx="3246120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236976"/>
            <a:ext cx="73152" cy="133502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6008" y="3383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Runtime breakout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36008" y="3675888"/>
            <a:ext cx="293522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Service compromise reaches files, devices, kernel APIs, or peer services.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69480" y="3657600"/>
            <a:ext cx="292608" cy="292608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47888" y="3236976"/>
            <a:ext cx="3246120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47888" y="3236976"/>
            <a:ext cx="73152" cy="133502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49056" y="3383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Evidence loss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49056" y="3675888"/>
            <a:ext cx="293522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Logs, baselines, or backups are altered before investigation.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082528" y="3657600"/>
            <a:ext cx="292608" cy="292608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63040" y="5650992"/>
            <a:ext cx="9326880" cy="402336"/>
          </a:xfrm>
          <a:prstGeom prst="roundRect">
            <a:avLst>
              <a:gd name="adj" fmla="val 1136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1640" y="5769864"/>
            <a:ext cx="8869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Design response: signed inputs, measured boot, least privilege, runtime confinement, audit evidence, and tested recovery.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Threat model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Layered Mission Linux Defense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Controls are stacked so failure of one layer is contained by the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43000" y="1417320"/>
            <a:ext cx="9875520" cy="384048"/>
          </a:xfrm>
          <a:prstGeom prst="roundRect">
            <a:avLst>
              <a:gd name="adj" fmla="val 11905"/>
            </a:avLst>
          </a:prstGeom>
          <a:solidFill>
            <a:srgbClr val="EDF8F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9304" y="1508760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4B5563"/>
                </a:solidFill>
              </a:rPr>
              <a:t>Governance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41448" y="1508760"/>
            <a:ext cx="8366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Waivers, CM, accreditation evidence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394460" y="1856232"/>
            <a:ext cx="9372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40764" y="1947672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Assurance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92908" y="1947672"/>
            <a:ext cx="7863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Benchmarks, validation, drift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95144"/>
            <a:ext cx="8869680" cy="384048"/>
          </a:xfrm>
          <a:prstGeom prst="roundRect">
            <a:avLst>
              <a:gd name="adj" fmla="val 11905"/>
            </a:avLst>
          </a:prstGeom>
          <a:solidFill>
            <a:srgbClr val="EDF8F7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92224" y="2386584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</a:rPr>
              <a:t>Operations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44368" y="2386584"/>
            <a:ext cx="7360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Patch staging, backups, time, recovery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97380" y="2734056"/>
            <a:ext cx="83667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43684" y="28254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A855F7"/>
                </a:solidFill>
              </a:rPr>
              <a:t>Evidence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95828" y="2825496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Audit, logs, integrity monitoring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48840" y="3172968"/>
            <a:ext cx="7863840" cy="384048"/>
          </a:xfrm>
          <a:prstGeom prst="roundRect">
            <a:avLst>
              <a:gd name="adj" fmla="val 11905"/>
            </a:avLst>
          </a:prstGeom>
          <a:solidFill>
            <a:srgbClr val="EDF8F7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95144" y="3264408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Runtime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47288" y="3264408"/>
            <a:ext cx="6355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systemd, seccomp, namespaces, cgroups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00300" y="3611880"/>
            <a:ext cx="73609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46604" y="3703320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Access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98748" y="3703320"/>
            <a:ext cx="5852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SELinux/AppArmor, sudo, identities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651760" y="405079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EDF8F7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4142232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E11D48"/>
                </a:solidFill>
              </a:rPr>
              <a:t>Kernel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50208" y="4142232"/>
            <a:ext cx="5349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KSPP, sysctl, module control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903220" y="4489704"/>
            <a:ext cx="63550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49524" y="4581144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Platform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201668" y="4581144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Firmware, Secure Boot, TPM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80760" y="1005840"/>
            <a:ext cx="0" cy="438912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6263640" y="9601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Measured trust path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85800" y="5532120"/>
            <a:ext cx="2834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5800" y="5532120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6968" y="56784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Bottom-up trust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" y="5971032"/>
            <a:ext cx="2523744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Firmware, boot, and kernel controls establish the platform state.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03320" y="5532120"/>
            <a:ext cx="2834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03320" y="5532120"/>
            <a:ext cx="73152" cy="6583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04488" y="56784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Runtime containment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904488" y="5971032"/>
            <a:ext cx="2523744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Services run with bounded privileges and narrow system access.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5532120"/>
            <a:ext cx="2834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20840" y="5532120"/>
            <a:ext cx="73152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22008" y="56784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Operational assurance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22008" y="5971032"/>
            <a:ext cx="2523744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Patching, audit, backup, and waivers keep state measurable.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Layered control model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Engineering Principles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The control set is selected by mission risk, workload behavior, and recovery requirements.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49834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08760"/>
            <a:ext cx="73152" cy="14813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65506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Least privilege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" y="1947672"/>
            <a:ext cx="467258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Constrain every process, account, package, service, and network path.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508760"/>
            <a:ext cx="49834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508760"/>
            <a:ext cx="73152" cy="14813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165506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Deterministic change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01968" y="1947672"/>
            <a:ext cx="467258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No uncontrolled repositories, no invisible exceptions, no unverified maintenance imports.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474720"/>
            <a:ext cx="49834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474720"/>
            <a:ext cx="73152" cy="14813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62102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Measured assurance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3913632"/>
            <a:ext cx="467258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Audit, benchmark, scan, attest, and compare against baselines.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3474720"/>
            <a:ext cx="49834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0" y="3474720"/>
            <a:ext cx="73152" cy="14813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01968" y="362102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Recoverability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01968" y="3913632"/>
            <a:ext cx="467258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Keys, backups, images, and break-glass access are engineered before enforcement.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Engineering principles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Hardening Control Families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The 32 methods group into a manageable operating model.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261872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242316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517904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Platform Trust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87168" y="144475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9E0B"/>
                </a:solidFill>
              </a:rPr>
              <a:t>4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377440" y="1773936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3008" y="1261872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E11D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1261872"/>
            <a:ext cx="2423160" cy="10972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1024" y="1517904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Kernel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40096" y="144475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11D48"/>
                </a:solidFill>
              </a:rPr>
              <a:t>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230368" y="1773936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45936" y="1261872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45936" y="1261872"/>
            <a:ext cx="2423160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1517904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Access Control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93024" y="144475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C3AED"/>
                </a:solidFill>
              </a:rPr>
              <a:t>2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083296" y="1773936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98864" y="1261872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98864" y="1261872"/>
            <a:ext cx="2423160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0" y="1517904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Runtime Isolation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045952" y="144475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A896"/>
                </a:solidFill>
              </a:rPr>
              <a:t>3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0936224" y="1773936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2432304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10B98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432304"/>
            <a:ext cx="2423160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2688336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Filesystem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87168" y="261518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B981"/>
                </a:solidFill>
              </a:rPr>
              <a:t>3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2377440" y="2944368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493008" y="2432304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93008" y="2432304"/>
            <a:ext cx="2423160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21024" y="2688336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Data Protection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40096" y="261518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563EB"/>
                </a:solidFill>
              </a:rPr>
              <a:t>1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5230368" y="2944368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45936" y="2432304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F9731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45936" y="2432304"/>
            <a:ext cx="2423160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73952" y="2688336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Supply Chain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93024" y="261518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97316"/>
                </a:solidFill>
              </a:rPr>
              <a:t>3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083296" y="2944368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9198864" y="2432304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3341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98864" y="2432304"/>
            <a:ext cx="2423160" cy="10972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0" y="2688336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Identity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045952" y="261518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34155"/>
                </a:solidFill>
              </a:rPr>
              <a:t>4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>
            <a:off x="10936224" y="2944368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40080" y="3602736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3602736"/>
            <a:ext cx="2423160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8096" y="3858768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Network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487168" y="378561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891B2"/>
                </a:solidFill>
              </a:rPr>
              <a:t>2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377440" y="4114800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493008" y="3602736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93008" y="3602736"/>
            <a:ext cx="2423160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21024" y="3858768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340096" y="378561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</a:rPr>
              <a:t>3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5230368" y="4114800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345936" y="3602736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A855F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45936" y="3602736"/>
            <a:ext cx="242316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73952" y="3858768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Evidence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193024" y="378561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A855F7"/>
                </a:solidFill>
              </a:rPr>
              <a:t>2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83296" y="4114800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198864" y="3602736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C262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198864" y="3602736"/>
            <a:ext cx="2423160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326880" y="3858768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Assurance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1045952" y="378561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DC2626"/>
                </a:solidFill>
              </a:rPr>
              <a:t>1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>
            <a:off x="10936224" y="4114800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640080" y="4773168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4B556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0080" y="4773168"/>
            <a:ext cx="2423160" cy="109728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" y="5029200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Governance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2487168" y="4956048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4B5563"/>
                </a:solidFill>
              </a:rPr>
              <a:t>1</a:t>
            </a:r>
            <a:endParaRPr lang="en-US" sz="1900" dirty="0"/>
          </a:p>
        </p:txBody>
      </p:sp>
      <p:sp>
        <p:nvSpPr>
          <p:cNvPr id="69" name="Text 67"/>
          <p:cNvSpPr/>
          <p:nvPr/>
        </p:nvSpPr>
        <p:spPr>
          <a:xfrm>
            <a:off x="2377440" y="52852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methods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Control families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Roadmap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Sequence high-value controls before high-friction enforcement.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1737360" cy="21488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1905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34440" y="1444752"/>
            <a:ext cx="713232" cy="7132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1655064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2240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Establish trust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2788920"/>
            <a:ext cx="1344168" cy="6766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72033"/>
                </a:solidFill>
              </a:rPr>
              <a:t>Firmware, Secure Boot, TPM, signed repos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2606040"/>
            <a:ext cx="347472" cy="34747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99232" y="1828800"/>
            <a:ext cx="1737360" cy="21488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905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02152" y="1444752"/>
            <a:ext cx="713232" cy="7132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12464" y="1655064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63824" y="2240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Constrain privilege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2788920"/>
            <a:ext cx="1344168" cy="6766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72033"/>
                </a:solidFill>
              </a:rPr>
              <a:t>Identities, sudo, service accounts, capabilities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28032" y="2606040"/>
            <a:ext cx="347472" cy="34747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66944" y="1828800"/>
            <a:ext cx="1737360" cy="21488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  <a:effectLst>
            <a:outerShdw blurRad="1905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69864" y="1444752"/>
            <a:ext cx="713232" cy="713232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0176" y="1655064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31536" y="2240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Reduce surface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68112" y="2788920"/>
            <a:ext cx="1344168" cy="6766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72033"/>
                </a:solidFill>
              </a:rPr>
              <a:t>Firewall, sysctl, modules, SSH, packages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95744" y="2606040"/>
            <a:ext cx="347472" cy="34747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34656" y="1828800"/>
            <a:ext cx="1737360" cy="21488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  <a:effectLst>
            <a:outerShdw blurRad="1905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37576" y="1444752"/>
            <a:ext cx="713232" cy="7132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47888" y="1655064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99248" y="2240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Confine runtime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35824" y="2788920"/>
            <a:ext cx="1344168" cy="6766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72033"/>
                </a:solidFill>
              </a:rPr>
              <a:t>SELinux/AppArmor, seccomp, systemd, cgroups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363456" y="2606040"/>
            <a:ext cx="347472" cy="34747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02368" y="1828800"/>
            <a:ext cx="1737360" cy="21488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1905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05288" y="1444752"/>
            <a:ext cx="713232" cy="7132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0" y="1655064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66960" y="2240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Prove and recover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003536" y="2788920"/>
            <a:ext cx="1344168" cy="6766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72033"/>
                </a:solidFill>
              </a:rPr>
              <a:t>Audit, FIM, backup, benchmark, waivers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371600" y="4983480"/>
            <a:ext cx="9418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71600" y="4983480"/>
            <a:ext cx="73152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72768" y="5129784"/>
            <a:ext cx="9098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Rule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572768" y="5422392"/>
            <a:ext cx="9107424" cy="36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control does not enter production until it has functional tests, negative security tests, performance evidence, rollback evidence, and an owner.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Implementation roadmap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Control-to-Risk Matrix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Major risk classes require multiple control families.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74320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53312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Risk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234440"/>
            <a:ext cx="457200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53312"/>
            <a:ext cx="4389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Primary controls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18120" y="1234440"/>
            <a:ext cx="374904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09560" y="1353312"/>
            <a:ext cx="3566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 evidence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618488"/>
            <a:ext cx="274320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783080"/>
            <a:ext cx="25603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Boot/rootkit persistence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6120" y="1618488"/>
            <a:ext cx="457200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783080"/>
            <a:ext cx="43891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Secure Boot, TPM, module signing, dm-verity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18120" y="1618488"/>
            <a:ext cx="374904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1783080"/>
            <a:ext cx="356616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PCR profile, unsigned module rejection, tamper test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414016"/>
            <a:ext cx="2743200" cy="79552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578608"/>
            <a:ext cx="25603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Service compromise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46120" y="2414016"/>
            <a:ext cx="4572000" cy="79552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2578608"/>
            <a:ext cx="43891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MAC, seccomp, capabilities, systemd sandboxing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18120" y="2414016"/>
            <a:ext cx="3749040" cy="79552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9560" y="2578608"/>
            <a:ext cx="356616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Denied access tests, AVC/audit review, service regression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209544"/>
            <a:ext cx="274320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374136"/>
            <a:ext cx="25603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Supply-chain import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46120" y="3209544"/>
            <a:ext cx="457200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374136"/>
            <a:ext cx="43891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Signed repos, SBOM, malware intake, patch staging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18120" y="3209544"/>
            <a:ext cx="374904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9560" y="3374136"/>
            <a:ext cx="356616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Manifest match, signature check, offline vulnerability scan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005072"/>
            <a:ext cx="2743200" cy="79552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169664"/>
            <a:ext cx="25603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Lateral movement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46120" y="4005072"/>
            <a:ext cx="4572000" cy="79552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37560" y="4169664"/>
            <a:ext cx="43891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Firewall, SSH hardening, identity/PAM, sudo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818120" y="4005072"/>
            <a:ext cx="3749040" cy="79552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09560" y="4169664"/>
            <a:ext cx="356616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Port scan, login tests, sudo logs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800600"/>
            <a:ext cx="274320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4965192"/>
            <a:ext cx="25603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Evidence or recovery loss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46120" y="4800600"/>
            <a:ext cx="457200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37560" y="4965192"/>
            <a:ext cx="438912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Audit, FIM, backups, golden images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818120" y="4800600"/>
            <a:ext cx="3749040" cy="795528"/>
          </a:xfrm>
          <a:prstGeom prst="rect">
            <a:avLst/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09560" y="4965192"/>
            <a:ext cx="3566160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Test events, integrity alerts, restore drill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Risk matrix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Tradeoffs and Decision Points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Controls must preserve security and mission performance together.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4800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417320"/>
            <a:ext cx="73152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56362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Security gain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856232"/>
            <a:ext cx="4489704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Boot trust, MAC, signed repos, audit evidence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4800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417320"/>
            <a:ext cx="73152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156362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Performance cost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10528" y="1856232"/>
            <a:ext cx="4489704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Audit volume, encryption IO, syscall filters, CPU mitigations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246120"/>
            <a:ext cx="4800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246120"/>
            <a:ext cx="73152" cy="123444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39242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Availability risk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78408" y="3685032"/>
            <a:ext cx="4489704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Lost keys, TPM lockout, strict MAC policy, failed patch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4800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246120"/>
            <a:ext cx="73152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339242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Operational load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10528" y="3685032"/>
            <a:ext cx="4489704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Offline import, SBOM upkeep, waiver review, restore drills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28800" y="5394960"/>
            <a:ext cx="8458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5394960"/>
            <a:ext cx="73152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29968" y="5541264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Decision rule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29968" y="5833872"/>
            <a:ext cx="8147304" cy="36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If a control can block mission recovery or degrade deterministic performance, it requires a validation plan, rollback plan, and named risk owner before enforcement.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Tradeoffs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 and Continuous Assurance Loop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Hardening is maintained through repeatable evidence, not one-time configuration.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93208" y="1764792"/>
            <a:ext cx="1975104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93208" y="1764792"/>
            <a:ext cx="73152" cy="7863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94376" y="1911096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Baseline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94376" y="2203704"/>
            <a:ext cx="1664208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Golden image, SBOM, config manifest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32500" y="2624087"/>
            <a:ext cx="1975104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32500" y="2624087"/>
            <a:ext cx="73152" cy="7863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33668" y="2770391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Enforce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33668" y="3062999"/>
            <a:ext cx="1664208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Signed boot, policy, repos, firewall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68150" y="4014457"/>
            <a:ext cx="1975104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8150" y="4014457"/>
            <a:ext cx="73152" cy="7863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9318" y="4160761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Test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69318" y="4453369"/>
            <a:ext cx="1664208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Negative security and mission workload tests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018266" y="4014457"/>
            <a:ext cx="1975104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18266" y="4014457"/>
            <a:ext cx="73152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19434" y="4160761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Measure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19434" y="4453369"/>
            <a:ext cx="1664208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Audit, FIM, benchmarks, PCRs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53916" y="2624087"/>
            <a:ext cx="1975104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53916" y="2624087"/>
            <a:ext cx="73152" cy="7863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55084" y="2770391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Correct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55084" y="3062999"/>
            <a:ext cx="1664208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Patch, tune, waive, or rollback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74920" y="2907792"/>
            <a:ext cx="2011680" cy="96012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13248" y="318211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Repository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Validation loop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M01 - Platform Root of Trust Baseline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Platform Trust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mission node must prove it boots only from the approved firmware and boot path before joining the enclave.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Bootkits, rogue boot media, unauthorized firmware changes, and silent downgrade to a weaker boot path.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Lock boot order and disable removable or network boot unless explicitly required.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Set UEFI administrator password under controlled escrow.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unused controllers such as Wi-Fi, Bluetooth, cameras, Thunderbolt, PXE, and debug ports.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Record firmware version, boot mode, device state, and platform identifiers in the baseline.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Runtime impact is normally negligible; disabling devices can reduce troubleshooting and failover options.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Firmware updates must be hash-verified, provenance-reviewed, and transferred through controlled media intake.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Controls depend on physical security and vendor supply-chain integrity.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Inspect UEFI settings, verify Secure Boot-capable UEFI mode, compare firmware versions to baseline, and confirm boot order.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M02 - Firmware / BIOS / UEFI Lockdown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Platform Trust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field-maintained server must resist pre-OS manipulation during maintenance windows.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Option-ROM abuse, DMA-capable peripheral attacks, firmware rollback, and unauthorized TPM clearing.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legacy BIOS/CSM boot and unnecessary option ROMs.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Enable IOMMU/VT-d/AMD-Vi where workload testing allows.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Configure TPM ownership protections and prevent unauthorized clear operations.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Export or document firmware settings per hardware model.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IOMMU can add small overhead for DMA-heavy workloads; benchmark NIC/storage paths.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Keep approved firmware bundles, hashes, and vendor advisories in the offline configuration repository.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Hardware revisions vary; treat firmware settings as platform-specific controlled items.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Check kernel logs for IOMMU, verify UEFI-only boot, inspect TPM state, and compare exported firmware profile.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M03 - Secure Boot With Controlled Keys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Platform Trust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Only mission-approved bootloaders, kernels, and modules may run on production hosts.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Unsigned kernel execution, bootloader tampering, malicious initramfs, and unauthorized module insertion.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Enable UEFI Secure Boot.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Prefer organization-controlled Secure Boot keys where feasible.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Sign bootloader, kernel, and required kernel modules.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MOK/shim only with strict key enrollment governance.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 runtime impact; boot time may increase slightly.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Signing keys should be generated, stored, backed up, and revoked using offline signing infrastructure.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Lost or mismanaged signing keys can block emergency updates.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`mokutil --sb-state`, inspect enrolled keys, confirm lockdown state, and attempt unsigned module load in staging.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3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M04 - TPM Measured Boot and Attestation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Platform Trust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disconnected command system needs local evidence that firmware, bootloader, kernel, and initramfs match the approved baseline.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Boot path tampering, firmware drift, rootkit persistence, and unauthorized kernel command-line changes.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TPM 2.0 and measure boot components into PCRs.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Store golden PCR profiles for approved configurations.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Export TPM event logs to a trusted offline analysis workstation.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Bind secrets to PCRs only after maintenance workflows are validated.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 runtime impact with minor boot overhead.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Attestation must be local/offline; no cloud attestation dependency should be required.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Legitimate firmware or kernel changes alter PCR values and can trigger lockouts.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Use `tpm2_pcrread`, parse TPM event logs, and compare PCRs to approved maintenance baselines.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4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M05 - Kernel Self-Protection and Attack Surface Reduction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Kernel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privileged mission service is exposed to malformed data and must not turn one parser bug into kernel control.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Privilege escalation, kernel memory disclosure, exploitation of unused subsystems, and debug interface abuse.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vendor-supported LTS or enterprise kernels.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Enable KASLR, SMEP/SMAP, hardened usercopy, stack protector, and relevant CPU mitigations.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unneeded filesystems, protocols, drivers, debugfs, kexec, and unrestricted ptrace/perf.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Restrict eBPF and kernel pointer exposure.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Most controls are low overhead, but CPU mitigations, perf restrictions, and debug removal can affect...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Kernel configs, patches, and build artifacts must be traceable in offline repositories.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Real-time or low-latency kernels may require exceptions that need formal risk acceptance.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Inspect `/boot/config-*`, `sysctl -a`, CPU vulnerability files, and run before/after workload benchmarks.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5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M06 - Kernel Module Allowlisting and Signing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Kernel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sensor node must prevent post-boot insertion of a kernel rootkit through a maintenance account.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Unsigned driver loading, malicious modules, and activation of vulnerable unused modules.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Enforce signed modules through Secure Boot/module signature policy.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Maintain an approved module inventory.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Blacklist unused modules and remove unused module packages.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Set `kernel.modules_disabled=1` after boot when late module loading is not required.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Runtime impact is negligible; operational flexibility for hot-plug devices is reduced.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Third-party drivers must be signed through the offline signing workflow.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`modules_disabled=1` is irreversible until reboot and can break late-loading hardware.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Compare `lsmod` to the approved list, test unsigned module rejection, and check `/proc/sys/kernel/modules_disabled`.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6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M07 - Hardened Sysctl Baseline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Kernel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host on an internal enclave network must reduce kernel behaviors that expose memory, debug data, or spoofable network paths.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Information leakage, ptrace abuse, network spoofing, source routing, redirect abuse, and unprivileged BPF misuse.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Set `kernel.kptr_restrict=2`, `kernel.dmesg_restrict=1`, and strict `kernel.yama.ptrace_scope`.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unprivileged BPF and restrict perf events.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IP redirects and source routing.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Tune SYN cookies, backlog, and reverse-path filtering according to topology.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Most settings are negligible; network settings can affect asymmetric routing and high-connection-rate services.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Internal enclave networks remain hostile enough to require network hardening.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Some container runtimes require specific namespace or network settings.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`sysctl --system`, inspect values, execute network regression tests, and verify application behavior.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7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M08 - SELinux or AppArmor Enforcement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Access Control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compromised application must be blocked from reading keys, altering service data, or touching unrelated mission files.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Service compromise leading to lateral file access, data tampering, or privilege misuse beyond Unix permissions.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Run SELinux enforcing on RHEL-family systems or AppArmor enforce mode on Ubuntu/Debian.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targeted policies for exposed and privileged services.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Analyze AVC/AppArmor denials before writing custom policy.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Avoid blanket permissive domains except during temporary diagnostics.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Usually low overhead; policy-heavy paths should be benchmarked.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Policy tools, documentation, and custom modules must be available and versioned offline.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Poor policy maintenance can break services and drive unsafe exceptions.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Use `getenforce`, `ausearch -m avc`, `aa-status`, denied-access tests, and audit review.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8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M09 - Linux Capability Minimization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Access Control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daemon needs to bind a low port but should not run with full root power.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Root-equivalent service compromise, broad `CAP_SYS_ADMIN`, and privilege escalation from service accounts.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Remove unnecessary file capabilities.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`CapabilityBoundingSet=` and `AmbientCapabilities=` in systemd units.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Avoid `CAP_SYS_ADMIN` except under formal exception.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Prefer socket activation or reverse proxy patterns over broad capabilities.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Capability policy should be part of the offline service baseline.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Validate service lifecycle actions, not just steady-state execution.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`getcap -r /`, inspect service capability sets, and check `/proc/&lt;pid&gt;/status`.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9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M10 - Seccomp System Call Filtering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Runtime Isolation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parser or network service should expose only the syscalls it actually needs.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compromised process invoking dangerous syscalls or reaching unnecessary kernel attack surfaces.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systemd `SystemCallFilter=`, `SystemCallArchitectures=native`, and `SystemCallErrorNumber=EPERM`.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container seccomp profiles where containers exist.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Build profiles from observed workload behavior.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Enforce per-service profiles rather than a generic global profile.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Usually low; high syscall-rate workloads need benchmarking.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Profile generation and test artifacts must be stored in offline configuration management.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Application, libc, or kernel updates can change syscall behavior.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Use `systemd-analyze security`, staging `strace`, service regression tests, and audit-denial review.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10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M11 - Namespaces and Cgroups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Runtime Isolation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mission application must be isolated so failure or compromise cannot exhaust CPU, memory, devices, or filesystem access.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Process escape, runaway resource consumption, memory exhaustion, and denial of service.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mount, PID, network, IPC, user, and UTS namespaces where appropriate.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cgroups v2 for CPU, memory, IO, pids, and device control.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unprivileged namespaces unless required.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Avoid privileged containers unless formally approved.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Accounting overhead is usually low, but resource limits directly affect mission performance if undersized.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Container images and runtimes must be mirrored, signed, scanned, and pinned offline.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Limits must be based on measured workload envelopes.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Inspect `/proc/&lt;pid&gt;/ns`, use `systemd-cgls`, run resource stress tests, and verify limit behavior.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11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M12 - Filesystem Mount Hardening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Filesystem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Writable directories and removable media must not become execution or privilege-escalation paths.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Execution from `/tmp`, malicious device nodes, setuid abuse, and removable-media malware.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`nodev`, `nosuid`, and `noexec` on `/tmp`, `/var/tmp`, removable media, and data partitions where feasible.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Separate `/var`, `/var/log`, `/tmp`, and application data when containment or availability justifies it.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read-only mounts for static application content.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Document any execution-required writable paths.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Negligible, though partitioning affects capacity and maintenance.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Removable media should mount with restrictive defaults and go through intake scanning.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`noexec` can break installers, scripts, JIT runtimes, and update workflows.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`findmnt -o TARGET,OPTIONS`, review `fstab`, and perform negative execution tests.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12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M13 - Immutable Files and Append-Only Logs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Filesystem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Critical configuration or audit evidence must resist casual tampering by privileged maintenance users.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Modification of audit logs, service units, keys, startup scripts, or security configuration.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`chattr +i` for selected static critical files.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`chattr +a` for append-only log paths where operationally safe.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Maintain an immutable file inventory.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Combine with integrity monitoring and controlled maintenance windows.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Patch and image update procedures must account for immutable flags.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Overuse creates maintenance failures and emergency recovery difficulty.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`lsattr`, attempt controlled modification in staging, and verify update behavior.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13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M14 - dm-verity and fs-verity Integrity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Filesystem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mission appliance must detect tampering with root filesystem blocks or high-value read-only files.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Persistent rootkit, offline binary modification, and unauthorized changes to trusted files.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dm-verity for read-only root or appliance-style partitions.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fs-verity for read-only file authenticity on supported filesystems.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Protect root hashes/signatures through the boot trust chain.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Define corruption behavior: fail I/O, reboot, alert, or halt based on mission safety.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Hash verification is generally lightweight after caching, but IO paths must be benchmarked.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Root hash/signature generation and promotion must occur in the offline release pipeline.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Read-only integrity controls require planned update and rollback mechanisms.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Use `veritysetup`, inspect root hash metadata, perform controlled tamper tests, and verify boot/runtime response.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14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M15 - LUKS2 Data-at-Rest Encryption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 Protection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Storage removed from a failed or captured system must not expose mission data.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Offline disk theft, forensic extraction, unauthorized disposal access, and media loss.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LUKS2 with approved cryptographic parameters.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Encrypt data partitions and root volumes where supportable.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TPM-bound unlock only after measured-boot workflow is stable.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Maintain recovery keys in controlled escrow.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AES-NI systems usually show low overhead; IO-heavy workloads require benchmark evidence.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Key escrow must be offline and procedurally controlled; avoid internet key services.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Encryption does not protect data while the system is running and unlocked.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`cryptsetup luksDump`, inspect `lsblk -f`, test recovery unlock, and benchmark storage.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15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M16 - Signed Offline Repositories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Supply Chain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Production systems must install only approved packages from an enclave-controlled repository.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Trojanized packages, repository poisoning, dependency confusion, and unauthorized local installation.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Mirror only approved upstream repositories.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Verify upstream signatures before import.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Re-sign internal repositories where required.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unsigned packages and pin repository sources.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No runtime impact; update staging time increases.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Use separate intake, staging, approval, and production repositories with controlled media transfer.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Offline repos drift without a defined security update cadence.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Attempt unsigned package install in staging, verify repo metadata signatures, and compare package inventory to manifest.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16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M17 - SBOM and Provenance Control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Supply Chain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An operator must know which components are deployed when a new vulnerability bulletin arrives offline.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Unknown vulnerable components, compromised dependency, unsupported binary, and inability to assess exposure.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Generate SBOMs for golden images, applications, containers, firmware, and repositories.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SPDX or CycloneDX.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Track source, version, hash, signature, license, and approval status.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Import vulnerability intelligence through a controlled channel.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No runtime impact; build and accreditation workflows take longer.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SBOM tools, advisory feeds, and vulnerability databases must be locally available.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SBOMs lose value if not updated after hotfixes and local builds.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Compare installed inventory to SBOM and run offline vulnerability scans against imported databases.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17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M18 - SSH Administrative Access Hardening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Identity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Administrators require remote access on the maintenance network without enabling lateral movement shortcuts.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Credential theft, brute force from enclave hosts, root login abuse, and agent/X11/TCP forwarding misuse.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root login and password login where practical.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Restrict users or groups with `AllowUsers` or `AllowGroups`.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agent forwarding, X11 forwarding, and TCP forwarding unless required.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strong host key algorithms and record host fingerprints.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Key distribution and revocation must work offline; break-glass access must be documented.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Overly strict SSH policy can block emergency access without console or break-glass procedures.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`sshd -T`, perform prohibited login tests, and review authentication logs.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18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M19 - Default-Deny Host Firewall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Network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Only mission-authorized flows may reach or leave a host inside the air-gapped enclave.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Lateral movement, internal scanning, accidental debug exposure, and unauthorized service binding.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Enforce default-deny inbound and restrict outbound where architecture permits.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Permit only documented ports, protocols, and peers.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nftables, firewalld, or iptables consistently.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Bind services only to required interfaces and maintain a flow matrix.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Usually low overhead; high packet-rate systems need benchmark and offload validation.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Air-gapped networks still require segmentation and should not be treated as fully trusted.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Firewall drift is common unless generated from controlled configuration.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`ss -tulpen`, inspect firewall rules, and scan from an approved test host.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19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M20 - Internal Time Authority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Logs, certificates, and authentication must remain consistent when no internet time source exists.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Clock drift causing invalid certificates, misleading audit timelines, failed scheduled jobs, and authentication errors.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internal NTP or PTP sources with chrony or equivalent.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Define GPS, rubidium/OCXO, or manually governed source of truth.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Restrict clients and segment time servers.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Define holdover behavior during reference loss.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Negligible; PTP may need NIC/hardware support for precision workloads.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No internet NTP; GPS may be restricted or spoofing-prone depending on mission threat model.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Manual time changes must be controlled and logged.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Use `chronyc tracking`, `chronyc sources -v`, drift tests, and log-correlation checks.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20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M21 - Local DNS and Resolver Control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Network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Mission hosts need deterministic name resolution without leaking queries or depending on internet DNS.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Resolver poisoning, stale host mappings, failed name service during isolation, spoofed internal records, and accidental dependency on external...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enclave-local authoritative DNS or controlled static host maps for mission names.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Restrict resolver configuration through baseline-managed `/etc/resolv.conf`, NetworkManager, or systemd-resolved policy.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fallback public resolvers and unauthorized DNS-over-HTTPS/TLS clients.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Log and review DNS changes; pin critical service names where outage impact is unacceptable.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Local caching reduces latency; resolver misconfiguration can create application stalls and long timeout paths.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Root hints, forwarding, and external recursion are normally out of scope; all mission records should be...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Static mappings are resilient but drift-prone; DNS centralization is cleaner but creates a critical service...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`resolvectl status` or inspect resolver files, query expected names with `dig`, block external resolution attempts, and test name-service failure modes.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21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M22 - Local Identity and PAM Hardening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Identity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Privileged login must remain controlled even when external identity services are unavailable.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Stale accounts, weak passwords, shared credentials, lockout bypass, and unmanaged local admins.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enclave-local centralized identity where available or tightly controlled local accounts.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Enforce password quality, history, aging, and lockout policy.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Disable unused default accounts and require named admin identities.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smart card or local MFA where operationally supportable.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Negligible, though identity outages can affect login latency and availability.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Identity replication, trust stores, and certificate revocation must operate locally.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Aggressive lockout can become a denial-of-service risk.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Review `/etc/passwd`, `/etc/shadow`, PAM files, password policy, and lockout behavior.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22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M23 - Sudo Least Privilege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Identity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Operators need controlled privilege elevation without shared root credentials.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Unbounded administrator privilege, sudo command injection, and weak accountability.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named users and role-based sudo groups.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Prefer command-specific sudo where maintainable.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Validate changes with `visudo`.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Enable sudo logging and I/O logging for sensitive roles where storage allows.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Negligible; I/O logging can add storage pressure.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Sudo logs and role definitions should be exported or archived in offline audit repositories.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Overly granular sudo can become brittle and encourage workarounds.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`sudo -l -U &lt;user&gt;`, attempt prohibited commands, and verify logs.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23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M24 - Dedicated Service Accounts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Identity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Each daemon must have only the identity and file access needed for its mission function.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Service compromise leading to broad file access, shared-account abuse, and interactive login misuse.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one dedicated account per service or application.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Set non-login shells and lock passwords.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Restrict ownership and group membership.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Pair accounts with systemd sandboxing and MAC policy.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Negligible.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Service account lifecycle must be included in image build and offline provisioning.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Vendor software may assume root or shared ownership and require explicit risk review.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Review `getent passwd`, process ownership, file ownership, and interactive login denial.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24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M25 - systemd Service Sandboxing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Runtime Isolation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network-facing daemon should not read home directories, write system paths, load modules, or create unexpected sockets.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Compromised daemon accessing host resources or escalating through filesystem, namespace, or syscall features.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`NoNewPrivileges=true`, `ProtectSystem=strict`, `ProtectHome=true`, and `PrivateTmp=true`.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`PrivateDevices=true`, `RestrictAddressFamilies=`, `RestrictNamespaces=true`, and `ReadWritePaths=`.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Add `MemoryDenyWriteExecute=true`, `LockPersonality=true`, `CapabilityBoundingSet=`, and `SystemCallFilter=` where compatible.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Tune per service instead of applying a blind global profile.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Usually negligible; can affect JIT runtimes, device access, IPC, and temporary files.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Unit hardening profiles should be tested and versioned with service deployment manifests.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`systemd-analyze security` is advisory, not certification.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`systemd-analyze security &lt;service&gt;`, lifecycle tests, and negative access tests.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25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M26 - Auditd, Journald, and Offline Export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Investigators need trustworthy evidence after suspicious privileged activity in a disconnected enclave.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Undetected privilege abuse, log tampering, log loss, and inability to reconstruct events.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Audit identity changes, privilege elevation, module loads, time changes, software installs, and critical file access.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Configure journald persistent storage with size limits.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Export logs to an internal collector or controlled offline archive.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append-only or WORM-like storage where feasible.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Audit rules can impose overhead on high-frequency file access or syscall paths.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Exports require controlled media or internal one-way transfer with chain of custody.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Excessive audit rules can degrade performance and flood storage.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Use `auditctl -s`, `auditctl -l`, generate test events, and verify log rotation/export integrity.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26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M27 - File Integrity Monitoring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Operators must detect unauthorized changes to `/boot`, `/etc`, binaries, libraries, and mission application files.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Persistence, tampering, unauthorized patching, and configuration drift.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AIDE, IMA/EVM, vendor tooling, or equivalent.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Build baselines from trusted golden images.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Monitor critical paths and store baselines offline or on protected media.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Re-baseline only through change control.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Scheduled scans consume IO/CPU; runtime appraisal can add overhead.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Baselines and alerts must be maintained in offline configuration management.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Frequent legitimate changes create noise unless exclusions are governed.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Run baseline scan, modify test files in staging, and verify detection.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27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M28 - Offline Malware and Media Intake Scanning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Supply Chain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Updates, vendor tools, and removable media must be screened before entering the protected enclave.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Removable-media malware, supply-chain payloads, infected maintenance laptops, and dormant droppers.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a dedicated intake station.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Scan imported files before enclave transfer.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Maintain offline signature update workflow.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Prefer signed artifacts and allowlisted file types.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Can delay imports; on-access scanning may affect IO-heavy workloads.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Scanner signatures must themselves be imported with provenance and change control.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Scanning cannot prove trust; signed malicious files and novel malware remain possible.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Confirm signature age, scan logs, quarantine behavior, and harmless test-detection where permitted.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28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M29 - Controlled Offline Patch Lifecycle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Security fixes must be applied without uncontrolled dependency drift or mission performance regression.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Unpatched vulnerabilities, failed updates, broken dependencies, and unverified emergency changes.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Acquire packages externally and verify provenance.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Scan, import, and stage into offline repositories.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Deploy first to representative lab hardware.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Run functional, security, and performance regression tests before production rollout.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Patch contents can materially affect latency, throughput, drivers, and kernel behavior.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Advisories, packages, signatures, and test evidence must be handled offline after intake.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Emergency patch paths must be predefined before crisis conditions.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Verify signatures, compare patch manifests, run regression tests, scan with offline CVE data, and rehearse rollback.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29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M30 - Trusted Backups and Golden Images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The mission owner must recover capability after compromise, failed update, operator error, or hardware loss.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Ransomware, destructive insider action, corrupt configuration, failed patch, and unrecoverable hardware failure.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Maintain signed golden images.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Separate OS, application, configuration, and data backups.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Use immutable or offline backup copies.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Test bare-metal restore and application data consistency.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Backup jobs can affect IO, CPU, network, and storage bandwidth.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Backups remain inside approved enclaves or are exported under controlled handling.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Untested backups are not a recovery capability.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Perform restore tests, hash images, boot restored systems, and verify application consistency.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30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M31 - Security-Performance Regression Gate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Assurance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Hardening must not break deterministic timing, throughput, failover, or mission workload behavior.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Security controls causing unacceptable latency, throughput loss, boot delay, or workload instability.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Define baseline metrics before hardening.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Measure CPU, memory, IO, network, boot time, service startup, failover, and application-specific mission metrics.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Test hardening bundles independently where feasible.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Record firmware, kernel, package, and configuration versions with results.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Consumes lab time but prevents uncontrolled production degradation.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Benchmark tools and result repositories must be locally available.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Synthetic benchmarks do not replace mission workload testing.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Use `fio`, `iperf3`, `stress-ng`, `cyclictest`, and mission simulators against acceptance thresholds.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31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M32 - Exception and Waiver Governance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Use-case driven hardening method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0" y="329184"/>
            <a:ext cx="1417320" cy="256032"/>
          </a:xfrm>
          <a:prstGeom prst="roundRect">
            <a:avLst>
              <a:gd name="adj" fmla="val 14286"/>
            </a:avLst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14432" y="384048"/>
            <a:ext cx="1271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Governance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207008"/>
            <a:ext cx="73152" cy="1243584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53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Protected use 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 control that breaks mission performance can be deferred without losing accountability.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97480"/>
            <a:ext cx="48920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697480"/>
            <a:ext cx="73152" cy="12435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437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Threat / failure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" y="3136392"/>
            <a:ext cx="4581144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Silent security drift, undocumented shortcuts, permanent exceptions, and weak accreditation evidence.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42432" y="1207008"/>
            <a:ext cx="5833872" cy="2734056"/>
          </a:xfrm>
          <a:prstGeom prst="roundRect">
            <a:avLst>
              <a:gd name="adj" fmla="val 2007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2432" y="1207008"/>
            <a:ext cx="73152" cy="2734056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353312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Technical implementation details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645920"/>
            <a:ext cx="5522976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Document waived control, affected system, owner, risk, compensating controls, expiration, and approval authority.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Require performance or availability evidence for mission-driven exceptions.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Track expiration and retest dates.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- Compare actual configuration against approved waiver list.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041648"/>
            <a:ext cx="73152" cy="10607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No runtime impact; adds governance overhead.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15968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5968" y="4041648"/>
            <a:ext cx="73152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Air-gap note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17136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Waiver records must live in the offline configuration and accreditation repository.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4041648"/>
            <a:ext cx="356616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4041648"/>
            <a:ext cx="73152" cy="106070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41879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Operational caveat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0" y="4480560"/>
            <a:ext cx="325526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Permanent waivers are accepted residual risk, not temporary engineering debt.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5468112"/>
            <a:ext cx="11000232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650992"/>
            <a:ext cx="10533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Validation: Review waivers periodically, verify compensating controls, and close expired exceptions.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Method 32 of 32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7648"/>
            <a:ext cx="12191695" cy="530352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2024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3756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0684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2416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41480" y="109728"/>
            <a:ext cx="1371600" cy="6583680"/>
          </a:xfrm>
          <a:prstGeom prst="line">
            <a:avLst/>
          </a:prstGeom>
          <a:noFill/>
          <a:ln w="7620">
            <a:solidFill>
              <a:srgbClr val="1F3A4A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50292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Closing Recommendation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21208" y="1097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CDEDE9"/>
                </a:solidFill>
              </a:rPr>
              <a:t>Build a small, signed, measured, least-privilege, auditable, recoverable Linux baseline.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2788920"/>
            <a:ext cx="1325880" cy="914400"/>
          </a:xfrm>
          <a:prstGeom prst="hexagon">
            <a:avLst/>
          </a:prstGeom>
          <a:solidFill>
            <a:srgbClr val="F59E0B"/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090672"/>
            <a:ext cx="11155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Signed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886200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D1D5DB"/>
                </a:solidFill>
              </a:rPr>
              <a:t>Boot and packages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54680" y="2788920"/>
            <a:ext cx="1325880" cy="914400"/>
          </a:xfrm>
          <a:prstGeom prst="hexagon">
            <a:avLst/>
          </a:prstGeom>
          <a:solidFill>
            <a:srgbClr val="00A896"/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3090672"/>
            <a:ext cx="11155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Measured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63240" y="3886200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D1D5DB"/>
                </a:solidFill>
              </a:rPr>
              <a:t>TPM and baselines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2788920"/>
            <a:ext cx="1325880" cy="914400"/>
          </a:xfrm>
          <a:prstGeom prst="hexagon">
            <a:avLst/>
          </a:prstGeom>
          <a:solidFill>
            <a:srgbClr val="10B981"/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0408" y="3090672"/>
            <a:ext cx="11155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Minimal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49240" y="3886200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D1D5DB"/>
                </a:solidFill>
              </a:rPr>
              <a:t>Services and packages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26680" y="2788920"/>
            <a:ext cx="1325880" cy="914400"/>
          </a:xfrm>
          <a:prstGeom prst="hexagon">
            <a:avLst/>
          </a:prstGeom>
          <a:solidFill>
            <a:srgbClr val="7C3AED"/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36408" y="3090672"/>
            <a:ext cx="11155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Confined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35240" y="3886200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D1D5DB"/>
                </a:solidFill>
              </a:rPr>
              <a:t>MAC and sandboxing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012680" y="2788920"/>
            <a:ext cx="1325880" cy="914400"/>
          </a:xfrm>
          <a:prstGeom prst="hexagon">
            <a:avLst/>
          </a:prstGeom>
          <a:solidFill>
            <a:srgbClr val="E11D48"/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22408" y="3090672"/>
            <a:ext cx="11155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Recoverable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921240" y="3886200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D1D5DB"/>
                </a:solidFill>
              </a:rPr>
              <a:t>Images and rollback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074920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Operate the baseline through controlled imports, performance gates, audit evidence, tested rollback, and expiring waivers.</a:t>
            </a:r>
            <a:endParaRPr lang="en-US" sz="1500" dirty="0"/>
          </a:p>
        </p:txBody>
      </p:sp>
      <p:pic>
        <p:nvPicPr>
          <p:cNvPr id="30" name="Picture 29" descr="clo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463040"/>
            <a:ext cx="9235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Acronym Glossary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Compact expansions for the highest-impact terms used across the deck.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35024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AIDE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335024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Advanced Intrusion Detection Environment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62272" y="1188720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1144" y="1335024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BPF/eBPF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76672" y="1335024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Berkeley Packet Filter / extended BPF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84464" y="1188720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03336" y="1335024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CM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98864" y="1335024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Configuration Management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1901952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048256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FIM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2048256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File Integrity Monitoring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62272" y="1901952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1144" y="2048256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IOMMU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76672" y="2048256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Input-Output Memory Management Unit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84464" y="1901952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03336" y="2048256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KSPP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98864" y="2048256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Kernel Self-Protection Project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2615184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" y="2761488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LUKS2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554480" y="2761488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Linux Unified Key Setup version 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62272" y="2615184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1144" y="2761488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MAC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76672" y="2761488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Mandatory Access Control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84464" y="2615184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03336" y="2761488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MOK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198864" y="2761488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Machine Owner Key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3328416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" y="3474720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PAM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554480" y="3474720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Pluggable Authentication Modules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462272" y="3328416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474720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PCR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76672" y="3474720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Platform Configuration Register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284464" y="3328416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03336" y="3474720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PTP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98864" y="3474720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Precision Time Protocol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8952" y="4187952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SBOM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554480" y="4187952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Software Bill of Materials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462272" y="4041648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81144" y="4187952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TPM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376672" y="4187952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Trusted Platform Module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284464" y="4041648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EEF7F6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403336" y="4187952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UEFI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198864" y="4187952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Unified Extensible Firmware Interface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0080" y="4754880"/>
            <a:ext cx="361188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8952" y="4901184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47E78"/>
                </a:solidFill>
              </a:rPr>
              <a:t>WORM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554480" y="4901184"/>
            <a:ext cx="2514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Write Once, Read Many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Glossary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  <p:pic>
        <p:nvPicPr>
          <p:cNvPr id="55" name="Picture 54" descr="fam_gover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164592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804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Official sources and local presentation inputs used to ground the deck.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24712"/>
            <a:ext cx="9144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078992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NIST SP 800-123, Guide to General Server Security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56048" y="1078992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https://csrc.nist.gov/pubs/sp/800/123/final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280160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Server security control planning, deployment, operation, and maintenance.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1591056"/>
            <a:ext cx="9144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545336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NIST SP 800-53 Rev. 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56048" y="1545336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https://csrc.nist.gov/pubs/sp/800/53/r5/upd1/final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1746504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Control families for access control, audit, configuration management, system integrity, and supply-chain risk.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057400"/>
            <a:ext cx="9144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011680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DISA STIGs Document Library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56048" y="2011680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https://public.cyber.mil/stigs/downloads/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212848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RHEL 8/9 STIG baselines and SCAP benchmarks for defense environments.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2523744"/>
            <a:ext cx="9144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478024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Red Hat Enterprise Linux 9 Security Hardening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56048" y="2478024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https://docs.redhat.com/en/documentation/red_hat_enterprise_linux/9/html-single/security_hardening/security_hardening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2679192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RHEL hardening, OpenSCAP, audit, cryptographic policy, and operational guidance.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2990088"/>
            <a:ext cx="9144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2944368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Red Hat Using SELinux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56048" y="2944368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https://docs.redhat.com/en/documentation/red_hat_enterprise_linux/9/html-single/using_selinux/index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3145536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SELinux architecture, enforcement, AVC denials, and policy management.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3456432"/>
            <a:ext cx="9144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410712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Linux Kernel dm-verity Documentation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56048" y="3410712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https://docs.kernel.org/admin-guide/device-mapper/verity.html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68680" y="3611880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Transparent block-device integrity checking using cryptographic hash trees.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3922776"/>
            <a:ext cx="9144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3877056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Linux Kernel fs-verity Documentation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56048" y="3877056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https://docs.kernel.org/filesystems/fsverity.html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68680" y="4078224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Read-only file authenticity protection using Merkle trees.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4389120"/>
            <a:ext cx="9144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343400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systemd.exec Manual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956048" y="4343400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https://www.freedesktop.org/software/systemd/man/systemd.exec.html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" y="4544568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Service sandboxing controls such as NoNewPrivileges, ProtectSystem, and SystemCallFilter.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5800" y="4855464"/>
            <a:ext cx="9144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4809744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OpenSCAP Security Guide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956048" y="4809744"/>
            <a:ext cx="6355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47E78"/>
                </a:solidFill>
              </a:rPr>
              <a:t>https://www.open-scap.org/security-policies/scap-security-guide/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68680" y="5010912"/>
            <a:ext cx="10424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Machine-readable security baselines and automated compliance evaluation.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85800" y="5870448"/>
            <a:ext cx="107899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5800" y="5870448"/>
            <a:ext cx="73152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6968" y="6016752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Local sources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" y="6309360"/>
            <a:ext cx="104790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33"/>
                </a:solidFill>
              </a:rPr>
              <a:t>Hardening_Cloud_Native_Compute.pptx, COS_Security_Hardening.pptx, Titanium_Hardened_Linux_Blueprint_(2).pptx, unnamed (3).png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02920" y="653796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References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04672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Linux hardening for air-gapped mission systems</a:t>
            </a:r>
            <a:endParaRPr lang="en-US" sz="1200" dirty="0"/>
          </a:p>
        </p:txBody>
      </p:sp>
      <p:pic>
        <p:nvPicPr>
          <p:cNvPr id="47" name="Picture 46" descr="fam_gover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164592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8392</Words>
  <Application>Microsoft Office PowerPoint</Application>
  <PresentationFormat>Widescreen</PresentationFormat>
  <Paragraphs>1031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Mission-Critical Air-Gapped Hardening</dc:title>
  <dc:subject>Mission-critical Linux hardening</dc:subject>
  <dc:creator>Codex</dc:creator>
  <cp:lastModifiedBy>Felix Kr</cp:lastModifiedBy>
  <cp:revision>3</cp:revision>
  <dcterms:created xsi:type="dcterms:W3CDTF">2026-04-27T15:49:22Z</dcterms:created>
  <dcterms:modified xsi:type="dcterms:W3CDTF">2026-04-27T19:30:56Z</dcterms:modified>
</cp:coreProperties>
</file>