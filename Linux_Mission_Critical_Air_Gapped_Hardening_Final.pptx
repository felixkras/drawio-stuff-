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1" r:id="rId44"/>
    <p:sldId id="298" r:id="rId45"/>
    <p:sldId id="299" r:id="rId46"/>
    <p:sldId id="300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80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שקופית פתיחה — חיזוק לינוקס למערכות מבצעיות מנותקות רשת.</a:t>
            </a:r>
          </a:p>
          <a:p>
            <a:pPr rtl="1"/>
            <a:r>
              <a:t>מטרת המצגת: להציג גישה הנדסית רב‑שכבתית להקשחת לינוקס בסביבות אוויר‑גאפ.</a:t>
            </a:r>
          </a:p>
          <a:p>
            <a:pPr rtl="1"/>
            <a:r>
              <a:t>שש מילות המפתח: חתום, מדוד, מינימלי, מוגבל, ניתן לביקורת, ניתן לשחזור.</a:t>
            </a:r>
          </a:p>
          <a:p>
            <a:pPr rtl="1"/>
            <a:r>
              <a:t>דגש פתיחה: אוויר‑גאפ אינו חסינות — להפוך 'תחושת ביטחון' לראיות הנדסיות מדידות.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למה לינוקס מבצעי בסביבה מנותקת שונה.</a:t>
            </a:r>
          </a:p>
          <a:p>
            <a:pPr rtl="1"/>
            <a:r>
              <a:t>שלוש נקודות: האוויר‑גאפ הוא בקרת רשת בלבד; ראשית עומס המשימה; ראיות מעל כוונות.</a:t>
            </a:r>
          </a:p>
          <a:p>
            <a:pPr rtl="1"/>
            <a:r>
              <a:t>מסר: 'הקשנו' אינו טענה תקפה ללא מדידה.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מודל איום — שש קטגוריות: שרשרת אספקה, מדיה נכנסת, זהויות פנימיות, התמדה באתחול, פריצת ריצה, איבוד ראיות.</a:t>
            </a:r>
          </a:p>
          <a:p>
            <a:pPr rtl="1"/>
            <a:r>
              <a:t>התשובה ההנדסית: קלטים חתומים, אתחול מדוד, הרשאות מינימום, הכלת ריצה, ראיות, שחזור מתורגל.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מודל הגנה רב‑שכבתי — כשל בשכבה מוכל ע"י הבאה.</a:t>
            </a:r>
          </a:p>
          <a:p>
            <a:pPr rtl="1"/>
            <a:r>
              <a:t>מהבסיס: פלטפורמה → קרנל → גישה → ריצה → ראיות → תפעול → בטחון → ממשל.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ארבעה עקרונות הנדסיים: הרשאות מינימום, שינוי דטרמיניסטי, בטחון נמדד, יכולת שחזור.</a:t>
            </a:r>
          </a:p>
          <a:p>
            <a:pPr rtl="1"/>
            <a:r>
              <a:t>היגיון: בקרה נבחרת לפי סיכון, התנהגות עומס ודרישות שחזור.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המתודולוגיה: 32 שיטות הקשחה ב‑11 משפחות.</a:t>
            </a:r>
          </a:p>
          <a:p>
            <a:pPr rtl="1"/>
            <a:r>
              <a:t>ספירה: פלטפורמה(4)+קרנל(3)+גישה(2)+ריצה(3)+FS(3)+מידע(1)+אספקה(3)+זהות(4)+רשת(2)+תפעול(3)+ראיות(2)+בטחון(1)+ממשל(1)=32.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תכנית בחמישה שלבים: הקמת אמון → צמצום הרשאות → צמצום שטח תקיפה → הגבלת ריצה → הוכחה ושחזור.</a:t>
            </a:r>
          </a:p>
          <a:p>
            <a:pPr rtl="1"/>
            <a:r>
              <a:t>חוק: בקרה לא נכנסת לפרודקשן ללא בדיקות פונקציונליות, אבטחה שליליות, ביצועים, rollback ובעלים.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מטריצת סיכון‑לבקרה. כל סיכון מהותי דורש שתיים+ משפחות בקרה וראיות אימות מוחשיות.</a:t>
            </a:r>
          </a:p>
          <a:p>
            <a:pPr rtl="1"/>
            <a:r>
              <a:t>תשובה לשאלת הביקורת: 'איך אתה יודע שהבקרה עובדת?'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דילמות מפתח — מתח בין רווח אבטחה לעלות ביצועים, בין סיכון זמינות לעומס תפעולי.</a:t>
            </a:r>
          </a:p>
          <a:p>
            <a:pPr rtl="1"/>
            <a:r>
              <a:t>חוק החלטה: בקרה שיכולה לחסום שחזור או דטרמיניזם דורשת תכנית אימות, rollback ובעל סיכון.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לולאת ולידציה: Baseline → Measure → Test → Correct/Enforce → חזרה.</a:t>
            </a:r>
          </a:p>
          <a:p>
            <a:pPr rtl="1"/>
            <a:r>
              <a:t>הקשחה היא ראיות חוזרות (PCR, FIM, benchmarks, שחזור), לא קונפיגורציה חד‑פעמית.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M01 — בסיס שורש‑אמון פלטפורמה. נעילת סדר אתחול, escrow ל‑UEFI, השבתת בקרים מיותרים, רישום baseline.</a:t>
            </a:r>
          </a:p>
          <a:p>
            <a:pPr rtl="1"/>
            <a:r>
              <a:t>איום: bootkits, מדיה עוקפת. ביצועים: זניח. אזהרה: השבתה פוגעת בתחזוקת חירום.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M02 — נעילת קושחה/UEFI. CSM כבוי, IOMMU, הגנת בעלות TPM, ייצוא הגדרות.</a:t>
            </a:r>
          </a:p>
          <a:p>
            <a:pPr rtl="1"/>
            <a:r>
              <a:t>ביצועים: IOMMU עלול להוסיף תקורה ל‑DMA — לבחון נתיב NIC/storage.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M03 — Secure Boot עם מפתחות מבוקרים. הפעלת UEFI SB, מפתחות ארגון, חתימת bootloader/kernel/modules.</a:t>
            </a:r>
          </a:p>
          <a:p>
            <a:pPr rtl="1"/>
            <a:r>
              <a:t>אזהרה: אובדן מפתח חוסם עדכוני חירום — escrow מחייב.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M04 — אתחול מדוד ב‑TPM ו‑attestation מקומי. PCR, golden profiles, event logs לאופליין.</a:t>
            </a:r>
          </a:p>
          <a:p>
            <a:pPr rtl="1"/>
            <a:r>
              <a:t>אזהרה: שינויי קושחה משנים PCR — צריך תזמורת.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M05 — הגנה עצמית של הקרנל: KASLR, SMEP/SMAP, mitigations, hardened usercopy, הגבלת eBPF.</a:t>
            </a:r>
          </a:p>
          <a:p>
            <a:pPr rtl="1"/>
            <a:r>
              <a:t>ביצועים: רוב זול; mitigations יקרות לעיתים.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M06 — Allowlist+חתימת מודולים. modules_disabled=1 לאחר אתחול בשרתים יציבים.</a:t>
            </a:r>
          </a:p>
          <a:p>
            <a:pPr rtl="1"/>
            <a:r>
              <a:t>אזהרה: בלתי הפיך עד reboot.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M07 — sysctl מוקשח: kptr/dmesg/ptrace_scope, השבתת BPF לא מורשה, הגדרות רשת.</a:t>
            </a:r>
          </a:p>
          <a:p>
            <a:pPr rtl="1"/>
            <a:r>
              <a:t>לבחון: שירותי connection rate גבוה.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M08 — אכיפת SELinux/AppArmor. ניתוח AVC לפני מדיניות מותאמת.</a:t>
            </a:r>
          </a:p>
          <a:p>
            <a:pPr rtl="1"/>
            <a:r>
              <a:t>אסור: permissive blanket.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M09 — מינימום capabilities. CapabilityBoundingSet ב‑systemd, הימנעות מ‑CAP_SYS_ADMIN.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M10 — סינון syscalls ב‑seccomp. SystemCallFilter, פרופילים פר‑שירות, בנייה מהתנהגות נצפית.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M11 — Namespaces+Cgroups. גבולות לפי מעטפת עומס נמדדת — לא ניחושים.</a:t>
            </a:r>
          </a:p>
          <a:p>
            <a:pPr rtl="1"/>
            <a:r>
              <a:t>תזכורת חשובה: chroot אינו גבול אבטחה — להעדיף namespaces+seccomp+MAC.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M12 — הקשחת mount: nodev/nosuid/noexec, הפרדה ל‑/var, /tmp, RO לתוכן סטטי.</a:t>
            </a:r>
          </a:p>
          <a:p>
            <a:pPr rtl="1"/>
            <a:r>
              <a:t>אזהרה: noexec שובר installers/JIT.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M13 — Immutable + append-only. שילוב עם FIM וחלונות תחזוקה.</a:t>
            </a:r>
          </a:p>
          <a:p>
            <a:pPr rtl="1"/>
            <a:r>
              <a:t>אזהרה: שימוש יתר תוקע עדכונים ושחזור.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M14 — שלמות dm-verity / fs-verity. Root hash מוגן בשרשרת אמון; הגדרת התנהגות בכשל 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M15 — LUKS2. AES-NI עם תקורה נמוכה; escrow למפתחות שחזור.</a:t>
            </a:r>
          </a:p>
          <a:p>
            <a:pPr rtl="1"/>
            <a:r>
              <a:t>חשוב: לא מגן בריצה כאשר נפתח.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M16 — מאגרים אופליין חתומים. intake → staging → approval → production.</a:t>
            </a:r>
          </a:p>
          <a:p>
            <a:pPr rtl="1"/>
            <a:r>
              <a:t>חובה: קצב עדכוני אבטחה.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M17 — SBOM (SPDX/CycloneDX) למקור, גרסה, hash, חתימה, רישוי, אישור.</a:t>
            </a:r>
          </a:p>
          <a:p>
            <a:pPr rtl="1"/>
            <a:r>
              <a:t>ערך: 'האם אנחנו חשופים?' תוך דקות.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M18 — הקשחת SSH: ללא root/password, AllowUsers/Groups, ללא forwarding מיותר.</a:t>
            </a:r>
          </a:p>
          <a:p>
            <a:pPr rtl="1"/>
            <a:r>
              <a:t>אזהרה: דורש break‑glass מתועד.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M19 — Firewall deny-by-default. רק פורטים/פרוטוקולים מתועדים. nftables/firewalld עקבי.</a:t>
            </a:r>
          </a:p>
          <a:p>
            <a:pPr rtl="1"/>
            <a:r>
              <a:t>אוויר‑גאפ ≠ אמון — סגמנטציה עדיין נדרשת.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M20 — סמכות זמן פנימית. NTP/PTP, GPS/רובידיום, holdover מוגדר.</a:t>
            </a:r>
          </a:p>
          <a:p>
            <a:pPr rtl="1"/>
            <a:r>
              <a:t>איום: drift פוסל אישורים, מטעה ציר זמן בלוגים.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M21 — DNS/resolver מקומיים. ללא fallback ציבורי וללא DoH מורשה.</a:t>
            </a:r>
          </a:p>
          <a:p>
            <a:pPr rtl="1"/>
            <a:r>
              <a:t>ערך: שמות מבצעיים פתורים גם בבידוד מלא.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M22 — זהות מקומית + PAM. quality/history/aging/lockout, השבתת ברירות מחדל.</a:t>
            </a:r>
          </a:p>
          <a:p>
            <a:pPr rtl="1"/>
            <a:r>
              <a:t>אזהרה: lockout אגרסיבי = DoS פנימי.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M23 — sudo ברמת מינימום. role-based, פקודות ספציפיות, sudo logging ל‑I/O ברגישים.</a:t>
            </a:r>
          </a:p>
          <a:p>
            <a:pPr rtl="1"/>
            <a:r>
              <a:t>איזון מול workarounds.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M24 — חשבונות שירות יעודיים. non-login, סיסמה נעולה, הרשאות מצומצמות, שילוב עם sandboxing.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M25 — sandboxing systemd: NoNewPrivileges, ProtectSystem, ProtectHome, PrivateTmp, MemoryDenyWriteExecute, SystemCallFilter.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M26 — Auditd, journald, ייצוא אופליין. WORM אם אפשר.</a:t>
            </a:r>
          </a:p>
          <a:p>
            <a:pPr rtl="1"/>
            <a:r>
              <a:t>איזון: כללים כבדים מעמיסים — לכייל.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M27 — FIM (AIDE/IMA-EVM). baselines מתמונות זהב, שמירה אופליין, re-baseline רק דרך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M28 — סריקת malware/מדיה נכנסת. תחנת intake יעודית, allowlist סוגי קבצים.</a:t>
            </a:r>
          </a:p>
          <a:p>
            <a:pPr rtl="1"/>
            <a:r>
              <a:t>תזכורת: סריקה מעריכה סיכון, לא מוכיחה אמון.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M29 — מחזור חיי טלאים אופליין: רכש→אימות→סריקה→staging→מעבדה→רגרסיה→פרודקשן.</a:t>
            </a:r>
          </a:p>
          <a:p>
            <a:pPr rtl="1"/>
            <a:r>
              <a:t>חובה: נתיב טלאי חירום מוגדר מראש.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M30 — גיבוי מהימן + golden images. הפרדת OS/app/config/data, immutable, bare-metal restore.</a:t>
            </a:r>
          </a:p>
          <a:p>
            <a:pPr rtl="1"/>
            <a:r>
              <a:t>חוק: גיבוי שלא נבדק — אינו גיבוי.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M31 — שער רגרסיה אבטחה‑ביצועים. baseline לפני, מדידת CPU/IO/network/boot/failover, רישום גרסאות.</a:t>
            </a:r>
          </a:p>
          <a:p>
            <a:pPr rtl="1"/>
            <a:r>
              <a:t>ערך: הקשחה הופכת מ‑'דעה' ל‑'נתון'.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M32 — ממשל waivers. תיעוד בעלים, סיכון, מפצים, תוקף, אישור. waiver קבוע = סיכון שיורי מקובל.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rPr lang="he-IL"/>
              <a:t>שקופית הרחבה — דפוס מכשיר (Appliance) ב‑LXC/nspawn ללא בניית images.</a:t>
            </a:r>
          </a:p>
          <a:p>
            <a:pPr rtl="1"/>
            <a:r>
              <a:rPr lang="he-IL"/>
              <a:t>רעיון: המארח חשוף — רק systemd, sshd, auditd, chrony ומנהל קונטיינרים. כל עומס משימה וכל סשן מפעיל רץ בתוך קונטיינר כברירת מחדל.</a:t>
            </a:r>
          </a:p>
          <a:p>
            <a:pPr rtl="1"/>
            <a:r>
              <a:rPr lang="he-IL"/>
              <a:t>ה‑rootfs של הקונטיינר הוא ספריית קבצים (debootstrap / dnf --installroot) או tar חתום שעובר דרך תחנת ה‑intake (M28). אין registry, אין docker build, אין OCI.</a:t>
            </a:r>
          </a:p>
          <a:p>
            <a:pPr rtl="1"/>
            <a:r>
              <a:rPr lang="he-IL"/>
              <a:t>כללי קונפיגורציה היחידים שמאושרים: unprivileged + idmap, AppArmor + seccomp, cap-drop אגרסיבי, cgroup limits. כל סטייה (privileged container) דורשת waiver לפי M32.</a:t>
            </a:r>
          </a:p>
          <a:p>
            <a:pPr rtl="1"/>
            <a:r>
              <a:rPr lang="he-IL"/>
              <a:t>כניסת מפעילים: sshd Match/ForceCommand → nsenter/lxc-attach. למארח אין shell חוקי לפי תפקיד.</a:t>
            </a:r>
          </a:p>
          <a:p>
            <a:pPr rtl="1"/>
            <a:r>
              <a:rPr lang="he-IL"/>
              <a:t>מגבלה מהותית: kernel משותף — CVE קרנל חוצה גבול. לעומסים בעלי דרישת assurance גבוהה, להוסיף שכבה (Kata/gVisor או KVM) מתחת ל‑LXC.</a:t>
            </a:r>
          </a:p>
          <a:p>
            <a:pPr rtl="1"/>
            <a:r>
              <a:rPr lang="he-IL"/>
              <a:t>השתלבות בדק: מצרף את M11+M25 לתבנית הפעלה אחת; משתלב עם M14 (read‑only root + dm-verity) ועם M16/M28/M30 (אספקה חתומה אופליין).</a:t>
            </a:r>
          </a:p>
          <a:p>
            <a:pPr rtl="1"/>
            <a:r>
              <a:rPr lang="he-IL"/>
              <a:t>ולידציה: lxc-checkconfig, systemd-analyze security, /proc/&lt;pid&gt;/uid_map, ניסיון לקבל shell על המארח מחשבון מפעיל — חייב להיכשל.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המלצת סיום: baseline קטן, חתום, מדוד, מינימום, ניתן לביקורת ולשחזור.</a:t>
            </a:r>
          </a:p>
          <a:p>
            <a:pPr rtl="1"/>
            <a:r>
              <a:t>תפעול: imports מבוקרים, שערי ביצועים, ראיות, rollback מבוסס‑בדיקות, waivers בעלי תוקף.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מילון מונחים — הרחבות קומפקטיות (AIDE, BPF, FIM, IOMMU, KSPP, LUKS2, MAC, MOK, PAM, PCR, PTP, SBOM, TPM, UEFI, WORM).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1"/>
            <a:r>
              <a:t>הפניות: NIST 800-123/800-53r5, DISA STIGs, RHEL 9 Hardening, SELinux docs, dm-verity/fs-verity, systemd.exec, OpenSCAP.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4148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621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MISSION-CRITICAL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9144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Linux Hardening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368" y="15727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5F2EE"/>
                </a:solidFill>
              </a:rPr>
              <a:t>for Air-Gapped Performance-Oriented Environments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53492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</a:rPr>
              <a:t>A layered engineering strategy for boot trust, kernel containment, identity, supply chain, audit evidence, and recoverable operations.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43800" y="1133856"/>
            <a:ext cx="2194560" cy="1508760"/>
          </a:xfrm>
          <a:prstGeom prst="hexagon">
            <a:avLst/>
          </a:prstGeom>
          <a:solidFill>
            <a:srgbClr val="F59E0B">
              <a:alpha val="92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82712" y="1645920"/>
            <a:ext cx="2011680" cy="1399032"/>
          </a:xfrm>
          <a:prstGeom prst="hexagon">
            <a:avLst/>
          </a:prstGeom>
          <a:solidFill>
            <a:srgbClr val="E11D48">
              <a:alpha val="92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2157984"/>
            <a:ext cx="1828800" cy="1289304"/>
          </a:xfrm>
          <a:prstGeom prst="hexagon">
            <a:avLst/>
          </a:prstGeom>
          <a:solidFill>
            <a:srgbClr val="7C3AED">
              <a:alpha val="92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0536" y="2670048"/>
            <a:ext cx="1645920" cy="1179576"/>
          </a:xfrm>
          <a:prstGeom prst="hexagon">
            <a:avLst/>
          </a:prstGeom>
          <a:solidFill>
            <a:srgbClr val="00A896">
              <a:alpha val="92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9448" y="3182112"/>
            <a:ext cx="1463040" cy="1069848"/>
          </a:xfrm>
          <a:prstGeom prst="hexagon">
            <a:avLst/>
          </a:prstGeom>
          <a:solidFill>
            <a:srgbClr val="10B981">
              <a:alpha val="92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5257800"/>
            <a:ext cx="38862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54406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SIGNED | MEASURED | MINIMAL | CONFINED | AUDITABLE | RECOVERABLE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" y="6144768"/>
            <a:ext cx="10881360" cy="292608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 w="12700">
            <a:solidFill>
              <a:srgbClr val="1F2937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6245352"/>
            <a:ext cx="10515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Doc ID: LNX-HARD-AIRGAP-PPT-001 | Version 1.1 | Draft - Fixed for PowerPoint &amp; Font Size | 2026-04-27 | Baseline: LNX-HARD-AIRGAP-BASELINE-001 | Internal / Program Review</a:t>
            </a:r>
            <a:endParaRPr lang="en-US" sz="1200" dirty="0"/>
          </a:p>
        </p:txBody>
      </p:sp>
      <p:pic>
        <p:nvPicPr>
          <p:cNvPr id="25" name="Picture 24" descr="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03120"/>
            <a:ext cx="65836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Air-Gapped Linux Is Different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Security, performance, deterministic operations, and recovery have to be engineered together.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636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Air gap is not immunity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856232"/>
            <a:ext cx="293522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Removable media, maintenance laptops, insiders, vendor packages, and recovery channels remain active attack paths.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07992" y="141732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41732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636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Mission workload first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56232"/>
            <a:ext cx="293522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Hardening is acceptable only when latency, throughput, failover, and recovery remain inside mission thresholds.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0184" y="1417320"/>
            <a:ext cx="3246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417320"/>
            <a:ext cx="73152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5636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Evidence over intent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31352" y="1856232"/>
            <a:ext cx="293522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Each control needs a protected use case, technical implementation, validation method, and performance decision record.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61772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E6F4F1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83717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Attack paths reduced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63240" y="461772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483717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Privileges constrained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461772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E6F4F1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483717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State measured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61772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483717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Change controlled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84080" y="4617720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E6F4F1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2952" y="4837176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Recovery tested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Mission framing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Model: Paths That Still Exist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Disconnected systems still have maintenance, media, supply-chain, and insider paths.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298448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298448"/>
            <a:ext cx="73152" cy="13350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44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Supply chain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29352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Firmware, package, driver, or dependency arrives already compromised.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1719072"/>
            <a:ext cx="292608" cy="292608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98448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298448"/>
            <a:ext cx="73152" cy="13350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444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Media intake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737360"/>
            <a:ext cx="29352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USB, optical media, or maintenance laptop introduces malware.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9480" y="1719072"/>
            <a:ext cx="292608" cy="292608"/>
          </a:xfrm>
          <a:prstGeom prst="chevron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298448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298448"/>
            <a:ext cx="73152" cy="13350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1444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Insider / stale identity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9056" y="1737360"/>
            <a:ext cx="29352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Authorized account or shared credential becomes the attack path.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082528" y="1719072"/>
            <a:ext cx="292608" cy="292608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236976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236976"/>
            <a:ext cx="73152" cy="13350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383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Boot 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675888"/>
            <a:ext cx="29352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Bootloader, kernel, initramfs, or root FS is modified.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56432" y="3657600"/>
            <a:ext cx="292608" cy="29260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236976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236976"/>
            <a:ext cx="73152" cy="133502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383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Runtime breakout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36008" y="3675888"/>
            <a:ext cx="29352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Service compromise reaches files, devices, kernel APIs, or peer services.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69480" y="3657600"/>
            <a:ext cx="292608" cy="292608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3236976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47888" y="3236976"/>
            <a:ext cx="73152" cy="13350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383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Evidence loss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49056" y="3675888"/>
            <a:ext cx="29352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Logs, baselines, or backups are altered before investigation.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082528" y="3657600"/>
            <a:ext cx="292608" cy="292608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5650992"/>
            <a:ext cx="9326880" cy="402336"/>
          </a:xfrm>
          <a:prstGeom prst="roundRect">
            <a:avLst>
              <a:gd name="adj" fmla="val 1136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1640" y="5769864"/>
            <a:ext cx="886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response: signed inputs, measured boot, least privilege, runtime confinement, audit evidence, and tested recovery.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Threat model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Layered Mission Linux Defense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Controls are stacked so failure of one layer is contained by the next.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1417320"/>
            <a:ext cx="6785235" cy="384048"/>
          </a:xfrm>
          <a:prstGeom prst="roundRect">
            <a:avLst>
              <a:gd name="adj" fmla="val 11905"/>
            </a:avLst>
          </a:prstGeom>
          <a:solidFill>
            <a:srgbClr val="EDF8F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9304" y="150876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4B5563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41448" y="1508760"/>
            <a:ext cx="8366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Waivers, CM, accreditation evidence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94460" y="1856232"/>
            <a:ext cx="643969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0764" y="194767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Assurance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2908" y="194767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Benchmarks, validation, drift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2295144"/>
            <a:ext cx="6094146" cy="384048"/>
          </a:xfrm>
          <a:prstGeom prst="roundRect">
            <a:avLst>
              <a:gd name="adj" fmla="val 11905"/>
            </a:avLst>
          </a:prstGeom>
          <a:solidFill>
            <a:srgbClr val="EDF8F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238658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2386584"/>
            <a:ext cx="7360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Patch staging, backups, time, recovery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97380" y="2734056"/>
            <a:ext cx="5748602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3684" y="282549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Evidence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95828" y="282549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Audit, logs, integrity monitoring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3172968"/>
            <a:ext cx="5403057" cy="384048"/>
          </a:xfrm>
          <a:prstGeom prst="roundRect">
            <a:avLst>
              <a:gd name="adj" fmla="val 11905"/>
            </a:avLst>
          </a:prstGeom>
          <a:solidFill>
            <a:srgbClr val="EDF8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326440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7288" y="3264408"/>
            <a:ext cx="6355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systemd, seccomp, namespaces, cgroups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00300" y="3611880"/>
            <a:ext cx="5057513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6604" y="370332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98748" y="3703320"/>
            <a:ext cx="5852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SELinux/AppArmor, sudo, identities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4050792"/>
            <a:ext cx="4713774" cy="384048"/>
          </a:xfrm>
          <a:prstGeom prst="roundRect">
            <a:avLst>
              <a:gd name="adj" fmla="val 11905"/>
            </a:avLst>
          </a:prstGeom>
          <a:solidFill>
            <a:srgbClr val="EDF8F7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414223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Kernel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50208" y="4142232"/>
            <a:ext cx="5349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KSPP, sysctl, module control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03220" y="4489704"/>
            <a:ext cx="436642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9524" y="458114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Platform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1668" y="4581144"/>
            <a:ext cx="4846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Firmware, Secure Boot, TPM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28232" y="1143000"/>
            <a:ext cx="0" cy="4058174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263640" y="960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Measured trust path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5285232"/>
            <a:ext cx="2834640" cy="90525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532120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54678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Bottom-up trust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" y="5760468"/>
            <a:ext cx="252374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Firmware, boot, and kernel controls establish the platform state.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03320" y="5285232"/>
            <a:ext cx="2834640" cy="90525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5532120"/>
            <a:ext cx="7315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0208" y="54678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Runtime containment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50208" y="5760468"/>
            <a:ext cx="2523744" cy="4633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Services run with bounded privileges and narrow system access.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20840" y="5285232"/>
            <a:ext cx="2834640" cy="90525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0840" y="5532120"/>
            <a:ext cx="7315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54678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Operational assurance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67728" y="5760468"/>
            <a:ext cx="2523744" cy="4633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Patching, audit, backup, and waivers keep state measurable.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Layered control model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Principles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control set is selected by mission risk, workload behavior, and recovery requirements.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983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08760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550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Least privilege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947672"/>
            <a:ext cx="46725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Constrain every process, account, package, service, and network path.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983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508760"/>
            <a:ext cx="73152" cy="14813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6550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Deterministic change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1968" y="1947672"/>
            <a:ext cx="46725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No uncontrolled repositories, no invisible exceptions, no unverified maintenance imports.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4983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474720"/>
            <a:ext cx="73152" cy="14813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6210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Measured assurance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3913632"/>
            <a:ext cx="46725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Audit, benchmark, scan, attest, and compare against baselines.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4983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474720"/>
            <a:ext cx="73152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36210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Recoverability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01968" y="3913632"/>
            <a:ext cx="467258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Keys, backups, images, and break-glass access are engineered before enforcement.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Engineering principles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Hardening Control Families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The 32 methods group into a manageable operating model.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61872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24231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51790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Platform Trust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7168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</a:rPr>
              <a:t>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377440" y="177393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261872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1261872"/>
            <a:ext cx="2423160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51790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Kernel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0096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11D48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230368" y="177393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1261872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261872"/>
            <a:ext cx="24231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51790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3024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</a:rPr>
              <a:t>2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83296" y="177393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98864" y="1261872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98864" y="1261872"/>
            <a:ext cx="242316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51790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Runtime Isolation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45952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896"/>
                </a:solidFill>
              </a:rPr>
              <a:t>3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936224" y="1773936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432304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432304"/>
            <a:ext cx="24231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268833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Filesystem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</a:rPr>
              <a:t>3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2377440" y="2944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93008" y="2432304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2432304"/>
            <a:ext cx="242316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1024" y="268833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Data Protection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0096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</a:rPr>
              <a:t>1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230368" y="2944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45936" y="2432304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45936" y="2432304"/>
            <a:ext cx="24231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68833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Supply Chain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93024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97316"/>
                </a:solidFill>
              </a:rPr>
              <a:t>3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083296" y="2944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98864" y="2432304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8864" y="2432304"/>
            <a:ext cx="2423160" cy="1097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0" y="268833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Identity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045952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34155"/>
                </a:solidFill>
              </a:rPr>
              <a:t>4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10936224" y="294436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360273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3602736"/>
            <a:ext cx="242316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" y="38587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Network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87168" y="37856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891B2"/>
                </a:solidFill>
              </a:rPr>
              <a:t>2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2377440" y="4114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493008" y="360273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93008" y="3602736"/>
            <a:ext cx="24231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21024" y="38587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0096" y="37856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</a:rPr>
              <a:t>3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5230368" y="4114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45936" y="360273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A855F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45936" y="3602736"/>
            <a:ext cx="242316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73952" y="38587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Evidence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93024" y="37856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855F7"/>
                </a:solidFill>
              </a:rPr>
              <a:t>2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083296" y="4114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98864" y="360273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98864" y="3602736"/>
            <a:ext cx="242316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26880" y="385876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Assurance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045952" y="37856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C2626"/>
                </a:solidFill>
              </a:rPr>
              <a:t>1</a:t>
            </a:r>
            <a:endParaRPr lang="en-US" sz="1900" dirty="0"/>
          </a:p>
        </p:txBody>
      </p:sp>
      <p:sp>
        <p:nvSpPr>
          <p:cNvPr id="64" name="Text 62"/>
          <p:cNvSpPr/>
          <p:nvPr/>
        </p:nvSpPr>
        <p:spPr>
          <a:xfrm>
            <a:off x="10936224" y="4114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40080" y="4773168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4B556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" y="4773168"/>
            <a:ext cx="2423160" cy="1097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" y="50292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487168" y="49560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B5563"/>
                </a:solidFill>
              </a:rPr>
              <a:t>1</a:t>
            </a:r>
            <a:endParaRPr lang="en-US" sz="1900" dirty="0"/>
          </a:p>
        </p:txBody>
      </p:sp>
      <p:sp>
        <p:nvSpPr>
          <p:cNvPr id="69" name="Text 67"/>
          <p:cNvSpPr/>
          <p:nvPr/>
        </p:nvSpPr>
        <p:spPr>
          <a:xfrm>
            <a:off x="2377440" y="52852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methods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Control families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Sequence high-value controls before high-friction enforcement.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444752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1655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Establish trust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788920"/>
            <a:ext cx="13441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Firmware, Secure Boot, TPM, signed repos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606040"/>
            <a:ext cx="347472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18288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1444752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1655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63824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Constrain privilege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788920"/>
            <a:ext cx="13441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Identities, sudo, service accounts, capabilities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2606040"/>
            <a:ext cx="347472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66944" y="18288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9864" y="1444752"/>
            <a:ext cx="713232" cy="71323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0176" y="1655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31536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Reduce surface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2788920"/>
            <a:ext cx="13441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Firewall, sysctl, modules, SSH, packages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95744" y="2606040"/>
            <a:ext cx="347472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4656" y="18288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37576" y="1444752"/>
            <a:ext cx="713232" cy="7132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1655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99248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Confine runtime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35824" y="2788920"/>
            <a:ext cx="13441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SELinux/AppArmor, seccomp, systemd, cgroups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63456" y="2606040"/>
            <a:ext cx="347472" cy="34747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02368" y="1828800"/>
            <a:ext cx="1737360" cy="2148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9050" dist="127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05288" y="1444752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16550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6696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Prove and recover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03536" y="2788920"/>
            <a:ext cx="134416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033"/>
                </a:solidFill>
              </a:rPr>
              <a:t>Audit, FIM, backup, benchmark, waivers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4983480"/>
            <a:ext cx="9418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4983480"/>
            <a:ext cx="7315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2768" y="5129784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Rule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572768" y="5422392"/>
            <a:ext cx="910742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control does not enter production until it has functional tests, negative security tests, performance evidence, rollback evidence, and an owner.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Implementation roadmap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Control-to-Risk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Major risk classes require multiple control families.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7432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45720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53312"/>
            <a:ext cx="4389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controls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234440"/>
            <a:ext cx="37490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353312"/>
            <a:ext cx="3566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274320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2560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Boot/rootkit persistence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618488"/>
            <a:ext cx="457200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783080"/>
            <a:ext cx="43891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Secure Boot, TPM, module signing, dm-verity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1618488"/>
            <a:ext cx="374904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783080"/>
            <a:ext cx="35661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PCR profile, unsigned module rejection, tamper 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414016"/>
            <a:ext cx="274320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78608"/>
            <a:ext cx="2560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Service compromise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414016"/>
            <a:ext cx="457200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578608"/>
            <a:ext cx="43891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MAC, seccomp, capabilities, systemd sandboxing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2414016"/>
            <a:ext cx="374904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578608"/>
            <a:ext cx="35661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Denied access tests, AVC/audit review, service regression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209544"/>
            <a:ext cx="274320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74136"/>
            <a:ext cx="2560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Supply-chain import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9544"/>
            <a:ext cx="457200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374136"/>
            <a:ext cx="43891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Signed repos, SBOM, malware intake, patch staging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3209544"/>
            <a:ext cx="374904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374136"/>
            <a:ext cx="35661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Manifest match, signature check, offline vulnerability scan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005072"/>
            <a:ext cx="274320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69664"/>
            <a:ext cx="2560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Lateral movement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4005072"/>
            <a:ext cx="457200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169664"/>
            <a:ext cx="43891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Firewall, SSH hardening, identity/PAM, sudo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4005072"/>
            <a:ext cx="374904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4169664"/>
            <a:ext cx="35661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Port scan, login tests, sudo logs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800600"/>
            <a:ext cx="274320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965192"/>
            <a:ext cx="2560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Evidence or recovery loss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4800600"/>
            <a:ext cx="457200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4965192"/>
            <a:ext cx="43891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Audit, FIM, backups, golden images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18120" y="4800600"/>
            <a:ext cx="3749040" cy="795528"/>
          </a:xfrm>
          <a:prstGeom prst="rect">
            <a:avLst/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09560" y="4965192"/>
            <a:ext cx="35661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Test events, integrity alerts, restore drill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Risk matrix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Tradeoffs and Decision Points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Controls must preserve security and mission performance together.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4800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636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Security gain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856232"/>
            <a:ext cx="448970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Boot trust, MAC, signed repos, audit 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4800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41732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5636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Performance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0528" y="1856232"/>
            <a:ext cx="448970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Audit volume, encryption IO, syscall filters, CPU mitigations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4800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46120"/>
            <a:ext cx="73152" cy="12344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3924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Availability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3685032"/>
            <a:ext cx="448970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Lost keys, TPM lockout, strict MAC policy, failed patch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4800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2461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33924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Operational 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0528" y="3685032"/>
            <a:ext cx="448970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Offline import, SBOM upkeep, waiver review, restore drills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0" y="5394960"/>
            <a:ext cx="8458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5394960"/>
            <a:ext cx="73152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554126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Decision rule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29968" y="5833872"/>
            <a:ext cx="814730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If a control can block mission recovery or degrade deterministic performance, it requires a validation plan, rollback plan, and named risk owner before enforcement.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Tradeoffs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and Continuous Assurance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Hardening is maintained through repeatable evidence, not one-time configuration.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93208" y="1764792"/>
            <a:ext cx="197510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3208" y="1764792"/>
            <a:ext cx="73152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4376" y="1911096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94376" y="2203704"/>
            <a:ext cx="16642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Golden image, SBOM, config manifest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828800"/>
            <a:ext cx="4114800" cy="2926080"/>
          </a:xfrm>
          <a:prstGeom prst="arc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2500" y="2624087"/>
            <a:ext cx="197510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2500" y="2624087"/>
            <a:ext cx="73152" cy="7863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33668" y="2770391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Enforce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33668" y="3062999"/>
            <a:ext cx="16642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Signed boot, policy, repos, firewall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1828800"/>
            <a:ext cx="4114800" cy="2926080"/>
          </a:xfrm>
          <a:prstGeom prst="arc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8150" y="4014457"/>
            <a:ext cx="197510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8150" y="4014457"/>
            <a:ext cx="73152" cy="7863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9318" y="4160761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9318" y="4453369"/>
            <a:ext cx="16642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Negative security and mission workload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1828800"/>
            <a:ext cx="4114800" cy="2926080"/>
          </a:xfrm>
          <a:prstGeom prst="arc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18266" y="4014457"/>
            <a:ext cx="197510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18266" y="4014457"/>
            <a:ext cx="73152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19434" y="4160761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Measure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19434" y="4453369"/>
            <a:ext cx="16642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Audit, FIM, benchmarks, PCRs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1828800"/>
            <a:ext cx="4114800" cy="2926080"/>
          </a:xfrm>
          <a:prstGeom prst="arc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3916" y="2624087"/>
            <a:ext cx="1975104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3916" y="2624087"/>
            <a:ext cx="73152" cy="7863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5084" y="2770391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Correct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55084" y="3062999"/>
            <a:ext cx="166420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Patch, tune, waive, or rollback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23360" y="1828800"/>
            <a:ext cx="4114800" cy="2926080"/>
          </a:xfrm>
          <a:prstGeom prst="arc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2907792"/>
            <a:ext cx="2011680" cy="96012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31821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Validation loop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M01 - Platform Root of Trust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Trust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mission node must prove it boots only from the approved firmware and boot path before joining the enclave.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Bootkits, rogue boot media, unauthorized firmware changes, and silent downgrade to a weaker boot path.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BIOS: set Setup/Admin password (escrowed); disable USB/PXE/network boot; lock boot order.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 WiFi/BT/camera/Thunderbolt/serial-console-debug at firmware level.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Enable VT-x/VT-d (or AMD-V/AMD-Vi); disable Intel ME network features where supported.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Record per-host: vendor, model, BIOS rev, microcode, serial, SMBIOS UUID into baseline.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Tooling: `dmidecode -t bios,system,baseboard`, `fwupdmgr get-devices`, `lshw -class system`.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Runtime impact is normally negligible; disabling devices can reduce troubleshooting and failover options.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Firmware updates must be hash-verified, provenance-reviewed, and transferred through controlled media intake.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Controls depend on physical security and vendor supply-chain integrity.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`dmidecode -s bios-version` matches baseline; `mokutil --sb-state`=enabled; `cat /sys/firmware/efi/fw_platform_size`=64; boot order frozen.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M02 - Firmware / BIOS / UEFI Lockdown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Trust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field-maintained server must resist pre-OS manipulation during maintenance windows.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Option-ROM abuse, DMA-capable peripheral attacks, firmware rollback, and unauthorized TPM clearing.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Kernel cmdline: `intel_iommu=on iommu=pt` (or `amd_iommu=on iommu=pt`) + `kernel.unprivileged_userns_clone=0`.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 CSM/Legacy boot; require UEFI-only; disable option ROMs for unused PCIe slots.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TPM: `tpm2_changeauth -c owner` (escrowed); set `physicalPresence=false` to block clear.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Block firmware downgrade via vendor tooling (HPE iLO `Server Security`, Dell DUP signature checks).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Capture firmware profile: `fwupdmgr get-devices --json &gt; /var/lib/baseline/fwup.json`.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IOMMU can add small overhead for DMA-heavy workloads; benchmark NIC/storage paths.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Keep approved firmware bundles, hashes, and vendor advisories in the offline configuration repository.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Hardware revisions vary; treat firmware settings as platform-specific controlled items.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`dmesg | grep -i 'IOMMU enabled'`; `tpm2_getcap properties-fixed` shows owner-auth-set; `efibootmgr -v` lists only signed entries.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M03 - Secure Boot With Controlled Keys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Trust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Only mission-approved bootloaders, kernels, and modules may run on production hosts.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Unsigned kernel execution, bootloader tampering, malicious initramfs, and unauthorized module insertion.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Generate org keys: `openssl req -new -x509 -newkey rsa:4096 -keyout PK.key -out PK.crt -days 3650`.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Enroll PK/KEK/db via `efi-updatevar -f PK.auth PK` after clearing factory keys.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Sign kernel: `sbsign --key db.key --cert db.crt --output vmlinuz.signed vmlinuz`.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Sign modules at build (`scripts/sign-file sha256 ...`); enforce via `module.sig_enforce=1`.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Keep signing offline (HSM or air-gapped CA); never ship signing key on production node.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 runtime impact; boot time may increase slightly.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Signing keys should be generated, stored, backed up, and revoked using offline signing infrastructure.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Lost or mismanaged signing keys can block emergency updates.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`mokutil --sb-state` = SecureBoot enabled; `dmesg | grep 'Loading X.509'` shows only enrolled CAs; `insmod unsigned.ko` returns -EKEYREJECTED.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3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M04 - TPM Measured Boot and Attestation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Trust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disconnected command system needs local evidence that firmware, bootloader, kernel, and initramfs match the approved baseline.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Boot path tampering, firmware drift, rootkit persistence, and unauthorized kernel command-line changes.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Read PCRs: `tpm2_pcrread sha256:0,1,2,3,4,5,7,8,9,11,14`; capture golden values per platform.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Persist event log: `cat /sys/kernel/security/tpm0/binary_bios_measurements &gt; evt.bin`.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Seal secrets to PCRs 0,2,4,7,11: `clevis encrypt tpm2 '{"pcr_ids":"0,2,4,7,11"}'`.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Bind LUKS unlock to TPM only after 30-day measured-boot stability run.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Local attestation only - no remote/cloud (`tpm2_quote` -&gt; internal verifier).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 runtime impact with minor boot overhead.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Attestation must be local/offline; no cloud attestation dependency should be required.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Legitimate firmware or kernel changes alter PCR values and can trigger lockouts.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`tpm2_pcrread sha256:7` matches golden; `tpm2_eventlog evt.bin | grep -c MeasuredBoot`; tampered initramfs causes PCR mismatch and seal failure.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4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M05 - Kernel Self-Protection and Attack Surface Reduction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Kernel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privileged mission service is exposed to malformed data and must not turn one parser bug into kernel control.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Privilege escalation, kernel memory disclosure, exploitation of unused subsystems, and debug interface abuse.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Pin to vendor LTS (RHEL 9 kernel-core, Ubuntu HWE, Debian backports kernel).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Cmdline: `mitigations=auto,nosmt init_on_alloc=1 init_on_free=1 slab_nomerge page_alloc.shuffle=1 vsyscall=none kernel.unprivileged_bpf_disabled=1`.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Disable: `dccp,sctp,tipc,rds,n-hdlc,ax25,netrom,x25,rose,decnet,econet,af_802154,ipx,appletalk,psnap,p8023,p8022,can,atm` via `/etc/modprobe.d/blacklist-rare.conf`.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Strip debug paths: remove `kgdb`, disable `CONFIG_DEBUG_FS`, set `kernel.kexec_load_disabled=1`.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Enable `lockdown=confidentiality` (kernel &gt;= 5.4) when SecureBoot active.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Most controls are low overhead, but CPU mitigations, perf restrictions, and debug removal can affect...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Kernel configs, patches, and build artifacts must be traceable in offline repositories.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Real-time or low-latency kernels may require exceptions that need formal risk acceptance.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`cat /sys/kernel/security/lockdown` shows `[confidentiality]`; `cat /sys/devices/system/cpu/vulnerabilities/*` all `Mitigation` or `Not affected`; `sysctl kernel.unprivileged_bpf_disabled`=1.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5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M06 - Kernel Module Allowlisting and Signing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Kernel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sensor node must prevent post-boot insertion of a kernel rootkit through a maintenance account.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Unsigned driver loading, malicious modules, and activation of vulnerable unused modules.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Cmdline: `module.sig_enforce=1 lockdown=integrity` (&gt;=5.4 kernel).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Generate approved list: `lsmod | awk 'NR&gt;1{print $1}' | sort &gt; /etc/modules-allowed`; review weekly.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Blacklist: `install &lt;name&gt; /bin/false` in `/etc/modprobe.d/disabled-&lt;name&gt;.conf` (cannot be overridden by `modprobe`).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Lock module loading post-boot: `sysctl -w kernel.modules_disabled=1` after `multi-user.target`.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Strip unused: `dnf remove kernel-modules-extra` / `apt purge linux-modules-extra-*`.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Runtime impact is negligible; operational flexibility for hot-plug devices is reduced.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Third-party drivers must be signed through the offline signing workflow.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`modules_disabled=1` is irreversible until reboot and can break late-loading hardware.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`cat /proc/sys/kernel/modules_disabled`=1; `modprobe dccp` returns -EPERM; `modinfo &lt;m&gt; | grep signer` lists only org CA.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6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M07 - Hardened Sysctl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Kernel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host on an internal enclave network must reduce kernel behaviors that expose memory, debug data, or spoofable network paths.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Information leakage, ptrace abuse, network spoofing, source routing, redirect abuse, and unprivileged BPF misuse.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Drop `/etc/sysctl.d/99-hardening.conf`: `kernel.kptr_restrict=2`, `kernel.dmesg_restrict=1`, `kernel.yama.ptrace_scope=2`, `kernel.kexec_load_disabled=1`.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BPF/perf: `kernel.unprivileged_bpf_disabled=1`, `kernel.perf_event_paranoid=3`.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Network: `net.ipv4.conf.all.rp_filter=1`, `.accept_redirects=0`, `.send_redirects=0`, `.accept_source_route=0`, `net.ipv4.tcp_syncookies=1`.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Memory: `vm.unprivileged_userfaultfd=0`, `kernel.randomize_va_space=2`.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IPv6 mirror of redirects/source-route; `fs.protected_*`=2 for hardlinks/symlinks/fifos/regular.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Most settings are negligible; network settings can affect asymmetric routing and high-connection-rate services.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Internal enclave networks remain hostile enough to require network hardening.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Some container runtimes require specific namespace or network settings.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`sysctl --system &amp;&amp; sysctl -a | grep -E 'kptr|ptrace_scope|bpf_disabled|rp_filter'`; OpenSCAP profile `xccdf_org.ssgproject.content_profile_stig`.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7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M08 - SELinux or AppArmor Enforcement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compromised application must be blocked from reading keys, altering service data, or touching unrelated mission files.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Service compromise leading to lateral file access, data tampering, or privilege misuse beyond Unix permissions.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RHEL: `setenforce 1` + `SELINUX=enforcing` in `/etc/selinux/config`; verify `getenforce`.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Targeted policy: `semanage fcontext` + `restorecon` for app paths; `audit2allow -M mymodule` only after triage.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Ubuntu/Debian: `aa-enforce /etc/apparmor.d/usr.sbin.&lt;svc&gt;`; `aa-status` to inventory.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Booleans: review `getsebool -a`; flip to least-permissive (e.g., `setsebool -P httpd_can_network_connect off`).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Forbid permissive domains: `seinfo --permissive` should be empty in production.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Usually low overhead; policy-heavy paths should be benchmarked.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Policy tools, documentation, and custom modules must be available and versioned offline.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Poor policy maintenance can break services and drive unsafe exceptions.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`getenforce`=Enforcing; `ausearch -m AVC -ts today | audit2why`; `aa-status | grep 'in enforce'` covers all policy-managed services.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8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M09 - Linux Capability Minimization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daemon needs to bind a low port but should not run with full root power.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Root-equivalent service compromise, broad `CAP_SYS_ADMIN`, and privilege escalation from service accounts.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Drop file caps: `setcap -r /path/to/binary` if not strictly required; audit `getcap -r /usr /sbin /bin /lib /opt`.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systemd unit: `CapabilityBoundingSet=CAP_NET_BIND_SERVICE` (only what's needed); `AmbientCapabilities=` only when invoked.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Replace CAP_NET_BIND_SERVICE with `setcap cap_net_bind_service=+ep` on binary, then drop from unit.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Forbid CAP_SYS_ADMIN/CAP_SYS_MODULE/CAP_SYS_RAWIO/CAP_DAC_OVERRIDE in services without waiver.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Inspect runtime: `grep CapEff /proc/$(pidof svc)/status` against expected mask.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Capability policy should be part of the offline service baseline.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Validate service lifecycle actions, not just steady-state execution.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`getcap -r / 2&gt;/dev/null` matches approved list; `capsh --decode=$(awk '/CapEff/{print $2}' /proc/&lt;pid&gt;/status)` shows least-privilege set.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9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M10 - Seccomp System Call Filtering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Runtime Isolation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parser or network service should expose only the syscalls it actually needs.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compromised process invoking dangerous syscalls or reaching unnecessary kernel attack surfaces.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systemd: `SystemCallFilter=@system-service`, `SystemCallArchitectures=native`, `SystemCallErrorNumber=EPERM`.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Deny extra: `SystemCallFilter=~@cpu-emulation @debug @keyring @module @mount @obsolete @raw-io @reboot @swap @privileged`.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Container: `--security-opt seccomp=/etc/containers/seccomp.json` (CRI-O default + custom drop list).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Build profile from observed run: `strace -f -e trace=%file,%network,%process` -&gt; distil into allowlist.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Verify: `systemd-analyze security &lt;unit&gt;` should report exposure level &lt;= 2.0 for hardened services.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Usually low; high syscall-rate workloads need benchmarking.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Profile generation and test artifacts must be stored in offline configuration management.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Application, libc, or kernel updates can change syscall behavior.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`systemd-analyze security &lt;svc&gt;` exposure score; `auditctl -w /usr/bin/&lt;svc&gt; -p x` + `ausearch -k seccomp`; staging strace shows zero unexpected syscalls.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10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M11 - Namespaces and Cgroups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Runtime Isolation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mission application must be isolated so failure or compromise cannot exhaust CPU, memory, devices, or filesystem access.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Process escape, runaway resource consumption, memory exhaustion, and denial of service.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cgroup v2 only: `systemd.unified_cgroup_hierarchy=1` on cmdline; verify with `mount | grep cgroup2`.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Service limits: `MemoryMax=`, `CPUQuota=`, `IOWeight=`, `TasksMax=`, `DevicePolicy=closed` per unit.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 unprivileged user namespaces: `kernel.unprivileged_userns_clone=0` (Debian) or built-out kernel (RHEL).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LXC unprivileged only: `lxc.idmap = u 0 100000 65536` + same for gid; AppArmor profile `lxc-default-cgns`.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Forbid privileged containers via admission policy / waiver.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Accounting overhead is usually low, but resource limits directly affect mission performance if undersized.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Container images and runtimes must be mirrored, signed, scanned, and pinned offline.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Limits must be based on measured workload envelopes.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`systemd-cgls`, `cat /proc/&lt;pid&gt;/status | grep Ns`, stress-ng under MemoryMax shows OOM-kill; `unshare -U` denied for unprivileged user.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11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M12 - Filesystem Mount Hardening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Writable directories and removable media must not become execution or privilege-escalation paths.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Execution from `/tmp`, malicious device nodes, setuid abuse, and removable-media malware.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/etc/fstab: `/tmp tmpfs nodev,nosuid,noexec,size=512M 0 0` (or `tmp.mount` with same flags).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Same flags for `/var/tmp`, `/dev/shm`, `/home`, `/var/log/audit`.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Removable media via `udisks2` or `udev` rules: `MOUNT_OPTIONS=nodev,nosuid,noexec,ro`.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Read-only `/usr` (with `usrmerge`): remount-ro post-boot via `systemd.mount` drop-in.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Application data: separate partition with `nosuid,nodev`; `noexec` if no scripts run there.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Negligible, though partitioning affects capacity and maintenance.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Removable media should mount with restrictive defaults and go through intake scanning.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`noexec` can break installers, scripts, JIT runtimes, and update workflows.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`findmnt -no TARGET,OPTIONS /tmp /var/tmp /dev/shm /home`; `cp /bin/sh /tmp/x &amp;&amp; /tmp/x` returns Permission denied.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12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M13 - Immutable Files and Append-Only Logs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Critical configuration or audit evidence must resist casual tampering by privileged maintenance users.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Modification of audit logs, service units, keys, startup scripts, or security configuration.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Immutable: `chattr +i /etc/passwd /etc/shadow /etc/group /etc/sudoers /boot/grub2/grub.cfg`.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Append-only: `chattr +a /var/log/audit/audit.log /var/log/secure` (works only with auditd's append behavior).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Inventory: `find / -xdev \( -e i -o -e a \) -printf '%p %#m %#a\n' &gt; /var/lib/baseline/immutable.list`.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Lift before patch: documented runbook `chattr -i ...; dnf update; chattr +i ...`.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Pair with auditd `-w` watch on the same paths so any flag flip is logged.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Patch and image update procedures must account for immutable flags.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Overuse creates maintenance failures and emergency recovery difficulty.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`lsattr /etc/passwd` shows `i`; `echo x &gt;&gt; /etc/passwd` returns EPERM; `chattr -i` works only after sudo + audit event recorded.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13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M14 - dm-verity and fs-verity Integrity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mission appliance must detect tampering with root filesystem blocks or high-value read-only files.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Persistent rootkit, offline binary modification, and unauthorized changes to trusted files.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Format: `veritysetup format /dev/sda2 /dev/sda3` -&gt; capture root hash; sign with offline CA.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Embed root hash + signature in initramfs or kernel cmdline (`roothash=&lt;hex&gt;`).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Open at boot: `veritysetup open /dev/sda2 root /dev/sda3 &lt;roothash&gt;`; mount `/dev/mapper/root` ro.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fs-verity for individual files (ext4/btrfs/f2fs): `fsverity enable --signature=sig &lt;file&gt;`.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Failure policy: kernel cmdline `dm-verity.error_behavior=panic` (or `restart`) for mission-critical.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Hash verification is generally lightweight after caching, but IO paths must be benchmarked.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Root hash/signature generation and promotion must occur in the offline release pipeline.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Read-only integrity controls require planned update and rollback mechanisms.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`veritysetup status root`; `dd if=/dev/sda3 of=/dev/sda3 bs=512 count=1 seek=10000` (tamper) -&gt; kernel logs verity error and IO fails.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14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M15 - LUKS2 Data-at-Rest Encryption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Protection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Storage removed from a failed or captured system must not expose mission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Offline disk theft, forensic extraction, unauthorized disposal access, and media loss.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Format: `cryptsetup luksFormat --type luks2 --cipher aes-xts-plain64 --key-size 512 --hash sha512 --pbkdf argon2id --pbkdf-memory 1048576 /dev/sdX`.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Bind to TPM PCRs: `clevis luks bind -d /dev/sdX tpm2 '{"pcr_ids":"0,2,4,7"}'`.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Recovery key in offline escrow (paper + sealed safe + duplicate at second site).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Encrypt swap: `cryptsetup open --type plain --key-file /dev/urandom /dev/sdY swap`.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Avoid TPM-only unlock until measured-boot pipeline is stable for &gt;= 30 days.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AES-NI systems usually show low overhead; IO-heavy workloads require benchmark evidence.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Key escrow must be offline and procedurally controlled; avoid internet key services.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Encryption does not protect data while the system is running and unlocked.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`cryptsetup luksDump /dev/sdX` shows luks2 + argon2id + bound clevis; benchmark `cryptsetup benchmark`; recovery unlock dry-run quarterly.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15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M16 - Signed Offline Repositories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Supply Chain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Production systems must install only approved packages from an enclave-controlled repository.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Trojanized packages, repository poisoning, dependency confusion, and unauthorized local installation.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yum/dnf: `gpgcheck=1 repo_gpgcheck=1 sslverify=1 localpkg_gpgcheck=1`; remove `enabled=1` from upstream repos.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apt: `Acquire::AllowInsecureRepositories "false"; Acquire::AllowDowngradeToInsecureRepositories "false";`; sign Release file with org key.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Mirror with `reposync --gpgcheck --download-metadata` (or `apt-mirror`); promote intake -&gt; staging -&gt; prod via signed manifest.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Pin sources: `dnf config-manager --set-disabled '*'; --set-enabled enclave-prod`.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Strip `apt`/`dnf` networking: `Acquire::http::Proxy "DIRECT";` -&gt; internal mirror only.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No runtime impact; update staging time increases.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Use separate intake, staging, approval, and production repositories with controlled media transfer.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Offline repos drift without a defined security update cadence.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`dnf install &lt;pkg-without-sig&gt;` fails with NOKEY; `apt update` against external mirror times out; `rpm --checksig` on every staged package.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16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M17 - SBOM and Provenance Control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Supply Chain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An operator must know which components are deployed when a new vulnerability bulletin arrives offline.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Unknown vulnerable components, compromised dependency, unsupported binary, and inability to assess exposure.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Generate: `syft packages dir:/ -o spdx-json=/var/lib/sbom/host.spdx.json` per host build.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Per-image: `syft &lt;image&gt; -o cyclonedx-json` saved with image hash in artifact registry.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Diff drift: `syft diff prod.spdx baseline.spdx`; alert on unexpected adds.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Vulnerability match offline: `grype --db-cache /var/lib/grype-db host.spdx.json`.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Track per component: PURL, version, sha256, signer, license, approval-state.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No runtime impact; build and accreditation workflows take longer.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SBOM tools, advisory feeds, and vulnerability databases must be locally available.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SBOMs lose value if not updated after hotfixes and local builds.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`grype &lt;sbom&gt;` against locally-mirrored CVE DB returns expected open issues; sample 10 binaries vs SBOM with `rpm -qf` / `dpkg -S`.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17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M18 - SSH Administrative Access Hardening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Administrators require remote access on the maintenance network without enabling lateral movement shortcuts.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Credential theft, brute force from enclave hosts, root login abuse, and agent/X11/TCP forwarding misuse.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/etc/ssh/sshd_config.d/00-hardening.conf: `PermitRootLogin no`, `PasswordAuthentication no`, `KbdInteractiveAuthentication no`, `PermitEmptyPasswords no`.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`AllowGroups ssh-operators`; `AllowAgentForwarding no`; `X11Forwarding no`; `AllowTcpForwarding no`; `PermitTunnel no`.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KEX/Ciphers: `KexAlgorithms curve25519-sha256,curve25519-sha256@libssh.org`; `Ciphers chacha20-poly1305@openssh.com,aes256-gcm@openssh.com`; `MACs hmac-sha2-512-etm@openssh.com`.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`HostKeyAlgorithms ssh-ed25519,rsa-sha2-512`; record fingerprints in `/etc/ssh/ssh_known_hosts` cluster-wide.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Break-glass: physical console with sealed root password in escrow; documented in M32.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Key distribution and revocation must work offline; break-glass access must be documented.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Overly strict SSH policy can block emergency access without console or break-glass procedures.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`sshd -T | grep -E 'permitroot|password|forwarding|kex|ciphers'`; `ssh -o PreferredAuthentications=password root@host` rejected; `nmap --script ssh2-enum-algos`.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18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M19 - Default-Deny Host Firewall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Only mission-authorized flows may reach or leave a host inside the air-gapped enclave.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Lateral movement, internal scanning, accidental debug exposure, and unauthorized service binding.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nftables baseline (`/etc/nftables/baseline.nft`):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  `table inet filter { chain input { type filter hook input priority 0; policy drop; ct state established,related accept; iif lo accept; tcp dport 22 ip saddr &lt;mgmt-cidr&gt; accept; } }`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Default-drop on output where workload permits; allowlist by destination CIDR + port.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Bind services to specific interfaces: `ListenAddress 10.0.0.5` not `0.0.0.0`.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Maintain flow matrix CSV (src, dst, port, proto, owner) under CM; regenerate ruleset from it.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 `firewalld` and `iptables-legacy` to prevent dual-stack drift.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Usually low overhead; high packet-rate systems need benchmark and offload validation.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Air-gapped networks still require segmentation and should not be treated as fully trusted.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Firewall drift is common unless generated from controlled configuration.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`nft list ruleset`; `ss -tulpen` matches flow matrix; `nmap -sS -p- &lt;host&gt;` from approved test station shows only allowlisted ports.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19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M20 - Internal Time Authority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Logs, certificates, and authentication must remain consistent when no internet time source exists.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Clock drift causing invalid certificates, misleading audit timelines, failed scheduled jobs, and authentication errors.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chrony.conf: `server 10.0.0.10 iburst minpoll 4 maxpoll 6` (internal stratum-1 with GPS/Rb).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`local stratum 10`; `allow 10.0.0.0/24`; `deny all`; `makestep 1.0 3`; `rtcsync`; `leapsectz right/UTC`.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Holdover: stratum-1 with OCXO/Rb runs &gt;= 24h within 10us during GPS loss.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PTP for sub-microsecond: `ptp4l -i eth0 -s -m`; `phc2sys` to sync system clock; HW timestamping NICs only.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 systemd-timesyncd and external NTP pool entries.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Negligible; PTP may need NIC/hardware support for precision workloads.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No internet NTP; GPS may be restricted or spoofing-prone depending on mission threat model.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Manual time changes must be controlled and logged.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`chronyc tracking` (Reference ID = internal); `chronyc sources -v`; cross-host log timestamp delta &lt; 50ms over 24h.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20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M21 - Local DNS and Resolver Control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Mission hosts need deterministic name resolution without leaking queries or depending on internet DNS.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Resolver poisoning, stale host mappings, failed name service during isolation, spoofed internal records, and accidental dependency on external...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Local authoritative: `unbound.conf` with `local-zone: "mission.local." static` + signed zone files.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/etc/resolv.conf: `nameserver 10.0.0.20\nnameserver 10.0.0.21\noptions edns0 trust-ad`; `chattr +i`.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Disable systemd-resolved fallback DNS and DoH: `FallbackDNS=` (empty), `DNSOverTLS=no`, `DNSStubListener=no`.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Block external DNS: nftables `udp dport 53 ip daddr != &lt;internal-resolver&gt; drop`.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Pin critical names in `/etc/hosts` for break-glass during resolver outage.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Local caching reduces latency; resolver misconfiguration can create application stalls and long timeout paths.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Root hints, forwarding, and external recursion are normally out of scope; all mission records should be...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Static mappings are resilient but drift-prone; DNS centralization is cleaner but creates a critical service...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`resolvectl status` shows only internal servers; `dig @8.8.8.8 example.com` blocked by firewall; `dig mission.local` returns expected IP.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21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M22 - Local Identity and PAM Hardening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Privileged login must remain controlled even when external identity services are unavailable.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Stale accounts, weak passwords, shared credentials, lockout bypass, and unmanaged local admins.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pam_pwquality (`/etc/security/pwquality.conf`): `minlen=14 dcredit=-1 ucredit=-1 ocredit=-1 lcredit=-1 minclass=4 retry=3 difok=4`.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pam_faillock: `deny=5 unlock_time=900 fail_interval=900` in `/etc/security/faillock.conf`.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pam_lastlog `showfailed`; pam_tally2/faillock logged to /var/log/secure.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Lock unused accounts: `passwd -l &lt;user&gt;`; set shell `/sbin/nologin`; `chage -E 0` for ex-staff.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Smart card: `pam_pkcs11` + `opensc-pkcs11`; CRL pulled via offline import (M28).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Negligible, though identity outages can affect login latency and availability.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Identity replication, trust stores, and certificate revocation must operate locally.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Aggressive lockout can become a denial-of-service risk.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`passwd &lt;user&gt;` rejects weak; 6th wrong attempt -&gt; `faillock --user &lt;u&gt;` shows lock; `awk -F: '$2==""' /etc/shadow` empty.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22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M23 - Sudo Least Privilege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Operators need controlled privilege elevation without shared root credentials.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Unbounded administrator privilege, sudo command injection, and weak accountability.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Role-based via `%ops ALL=(ALL) /usr/sbin/systemctl restart mission, /usr/sbin/journalctl -u mission*`.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Defaults: `Defaults log_input,log_output,iolog_dir=/var/log/sudo-io,timestamp_timeout=5,passwd_tries=3,requiretty`.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Forbid `NOPASSWD` for human roles; allow only for narrowly-scoped automation accounts with documented owner.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Validate edits: `visudo -cf /etc/sudoers.d/&lt;file&gt;` before deploy; lint via `sudo --validate`.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I/O log review weekly for top-10 sensitive commands.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Negligible; I/O logging can add storage pressure.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Sudo logs and role definitions should be exported or archived in offline audit repositories.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Overly granular sudo can become brittle and encourage workarounds.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`sudo -l -U &lt;user&gt;` matches role; prohibited `sudo -i` denied; `ls /var/log/sudo-io/` shows session-bound transcripts.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23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M24 - Dedicated Service Accounts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Identity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Each daemon must have only the identity and file access needed for its mission function.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Service compromise leading to broad file access, shared-account abuse, and interactive login misuse.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Create: `useradd --system --no-create-home --shell /sbin/nologin --comment 'svc-foo' svc-foo`.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Lock password: `usermod -L svc-foo`; `passwd -l svc-foo`; expire `chage -E 1 svc-foo`.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File ownership scoped: `chown -R svc-foo:svc-foo /var/lib/foo`; modes 0750/0640.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systemd unit: `User=svc-foo`, `Group=svc-foo`, `DynamicUser=yes` where workload allows.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Forbid shared service accounts; per-app account is mandatory.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Negligible.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Service account lifecycle must be included in image build and offline provisioning.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Vendor software may assume root or shared ownership and require explicit risk review.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`getent passwd svc-foo` shows nologin; `su -s /bin/sh svc-foo` denied; `ps -eo user,cmd | grep &lt;svc&gt;` shows correct UID.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24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M25 - systemd Service Sandboxing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Runtime Isolation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network-facing daemon should not read home directories, write system paths, load modules, or create unexpected sockets.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Compromised daemon accessing host resources or escalating through filesystem, namespace, or syscall features.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Drop-in `/etc/systemd/system/&lt;svc&gt;.d/hardening.conf`: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  `NoNewPrivileges=yes ProtectSystem=strict ProtectHome=yes PrivateTmp=yes PrivateDevices=yes ProtectKernelTunables=yes ProtectKernelModules=yes ProtectKernelLogs=yes ProtectControlGroups=yes`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`RestrictAddressFamilies=AF_UNIX AF_INET AF_INET6`; `RestrictNamespaces=yes`; `LockPersonality=yes`; `MemoryDenyWriteExecute=yes`.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`SystemCallFilter=@system-service` + deny `@privileged @resources @reboot @module @mount @swap`.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`CapabilityBoundingSet=` (empty unless required); `ReadWritePaths=` only specific dirs.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Aim: `systemd-analyze security &lt;svc&gt;` reports exposure &lt; 2.5.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Usually negligible; can affect JIT runtimes, device access, IPC, and temporary files.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Unit hardening profiles should be tested and versioned with service deployment manifests.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`systemd-analyze security` is advisory, not certification.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`systemd-analyze security &lt;svc&gt;` shows exposure score and which knobs are unset; negative tests confirm denied syscall/path access.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25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M26 - Auditd, Journald, and Offline Export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Investigators need trustworthy evidence after suspicious privileged activity in a disconnected enclave.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Undetected privilege abuse, log tampering, log loss, and inability to reconstruct events.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/etc/audit/rules.d/00-base.rules: `-w /etc/passwd -p wa -k identity`, `-w /etc/shadow -p wa -k identity`, `-w /etc/sudoers -p wa -k privesc`.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syscall: `-a always,exit -F arch=b64 -S execve -F uid&gt;=1000 -k user-cmd`; modules `-w /sbin/insmod -p x -k modules`.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/etc/audit/auditd.conf: `max_log_file=200`, `space_left_action=email`, `disk_full_action=halt`, `flush=incremental_async`.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journald: `Storage=persistent`, `SystemMaxUse=1G`, `Seal=yes`, `ForwardToSyslog=no`.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Export: hourly `aureport` -&gt; signed bundle -&gt; one-way diode/USB to offline collector.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Audit rules can impose overhead on high-frequency file access or syscall paths.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Exports require controlled media or internal one-way transfer with chain of custody.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Excessive audit rules can degrade performance and flood storage.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`auditctl -l` matches CM file; `auditctl -s` enabled+immutable=1; testing `useradd test; userdel test` produces audit events with key `identity`.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26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M27 - File Integrity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Operators must detect unauthorized changes to `/boot`, `/etc`, binaries, libraries, and mission application files.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Persistence, tampering, unauthorized patching, and configuration drift.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AIDE: `/etc/aide.conf` watches `/boot /etc /usr/sbin /usr/bin /sbin /bin /lib /lib64 /opt /root` with sha512+sha256.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Initialize: `aide --init`; move db to read-only media; `aide --check` daily via systemd timer.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IMA: cmdline `ima_policy=tcb ima_appraise=fix` (then enforce); xattrs signed by org key.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Re-baseline only via documented CM ticket; capture pre/post hashes.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Pipe alerts to auditd via `--report-to-stdout` -&gt; logger -&gt; SIEM (or offline collector).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Scheduled scans consume IO/CPU; runtime appraisal can add overhead.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Baselines and alerts must be maintained in offline configuration management.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Frequent legitimate changes create noise unless exclusions are governed.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`aide --check` clean on baseline; modify a watched file -&gt; next run reports diff; `getfattr -d -m security.ima /usr/bin/sshd` shows signature.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27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M28 - Offline Malware and Media Intake Scanning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Supply Chain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Updates, vendor tools, and removable media must be screened before entering the protected enclave.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Removable-media malware, supply-chain payloads, infected maintenance laptops, and dormant droppers.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Intake station: dedicated airgapped laptop, ClamAV + YARA + sha256, signature DB updated weekly via signed bundle.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Workflow: receive media -&gt; hash -&gt; `clamscan --bytecode-unsigned=no -ri /media`; `yara -r rules/ /media`; quarantine on hit.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File-type allowlist: `.rpm .deb .tar.gz .tar.xz .iso .sig`; everything else rejected.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Strip macros from imported docs; convert to PDF/A; re-render images.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Chain of custody: intake log signed by operator; one-way transfer to enclave.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Can delay imports; on-access scanning may affect IO-heavy workloads.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Scanner signatures must themselves be imported with provenance and change control.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Scanning cannot prove trust; signed malicious files and novel malware remain possible.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EICAR test file detected; oversized/unknown type rejected; signature DB age &lt;= 7 days; `clamdtop` shows daemon healthy.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28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M29 - Controlled Offline Patch Lifecycle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Security fixes must be applied without uncontrolled dependency drift or mission performance regression.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Unpatched vulnerabilities, failed updates, broken dependencies, and unverified emergency changes.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Stages: external acquire -&gt; hash -&gt; sign -&gt; intake-scan -&gt; staging repo -&gt; lab deploy -&gt; prod.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Lab: identical hardware tier; run `fio`, `iperf3`, `cyclictest`, `stress-ng`, app smoke tests pre/post.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Approval gate: signed test report; rollback artifact (snapshot or A/B partition slot) created before prod.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Emergency path: pre-defined CVSS &gt;= 9 lane bypasses lab with explicit waiver (M32).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Track per patch: CVE list, components, regression evidence, rollback steps.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Patch contents can materially affect latency, throughput, drivers, and kernel behavior.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Advisories, packages, signatures, and test evidence must be handled offline after intake.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Emergency patch paths must be predefined before crisis conditions.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dry-run rollback in staging; signed-only repos enforce; `dnf history rollback &lt;id&gt;` succeeds; performance delta within budget.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29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M30 - Trusted Backups and Golden Images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The mission owner must recover capability after compromise, failed update, operator error, or hardware loss.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Ransomware, destructive insider action, corrupt configuration, failed patch, and unrecoverable hardware failure.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Golden image: signed (`gpg --detach-sign image.qcow2`); dm-verity hash captured per release.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Backups: restic + repo on WORM media (`restic backup --tag prod /var /etc /root`); password in escrow.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A/B partition slots: `bootctl set-default &lt;slot&gt;`; rollback via `bootctl set-default &lt;other&gt;` and reboot.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Bare-metal restore drill quarterly; verify image hash + boot + service health.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Separate retention: OS (latest 3 releases), config (90 days), data (per data-classification policy).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Backup jobs can affect IO, CPU, network, and storage bandwidth.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Backups remain inside approved enclaves or are exported under controlled handling.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Untested backups are not a recovery capability.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`restic check`; restore to lab host -&gt; hash match; `tpm2_eventlog` after restore matches golden PCRs.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30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M31 - Security-Performance Regression Gate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Assurance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Hardening must not break deterministic timing, throughput, failover, or mission workload behavior.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Security controls causing unacceptable latency, throughput loss, boot delay, or workload instability.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Reference workload: `fio --rw=randrw --bs=4k --iodepth=32 --numjobs=4 --size=4G --runtime=300 --name=mission`.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Network: `iperf3 -c &lt;peer&gt; -t 60 -P 4 --json`; latency `cyclictest -p99 -l 1000000`.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Boot: `systemd-analyze` &lt; target; service start `systemd-analyze blame | head -20`.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Acceptance: &lt;= 5% regression on p99 latency, throughput, boot, failover unless waived.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Bundle each hardening change separately first; combined run last.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Consumes lab time but prevents uncontrolled production degradation.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Benchmark tools and result repositories must be locally available.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Synthetic benchmarks do not replace mission workload testing.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pre/post benchmark JSON in artifact repo; tagged with kernel+config hash; CI gate refuses merge if regression &gt; threshold.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31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M32 - Exception and Waiver Governance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Use-case driven hardening method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 control that breaks mission performance can be deferred without losing accountability.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Silent security drift, undocumented shortcuts, permanent exceptions, and weak accreditation evidence.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Template fields: control, system, owner, risk, threat scenario, compensating controls, expiry (&lt;= 12 mo), approver, signature.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Stored as `git`-tracked YAML in offline CM repo with hash chain (no edits, only new versions).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Quarterly review: expired waivers auto-flagged; compensating controls re-tested.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Compare actual config to waiver register: `oscap` profile + custom audit script -&gt; diff.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- Permanent waivers re-classified as accepted residual risk in accreditation package.</a:t>
            </a:r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No runtime impact; adds governance overhead.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Waiver records must live in the offline configuration and accreditation repository.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Permanent waivers are accepted residual risk, not temporary engineering debt.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Validation: `git log --follow waivers/`; `oscap-evaluator` diff vs waiver list; expired count = 0 at audit checkpoint.</a:t>
            </a:r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Method 32 of 32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Appliance Pattern — Image-less LXC / nspawn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Force every workload into a container; keep the host bare. No OCI build chain required.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32918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14432" y="384048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t>Runtime Isolation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73152" cy="12435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53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Protected use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t>A mission node must run only platform services on the bare host (init, sshd, auditd, time, container manager). Every mission workload and every operator session lands inside a container by default.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48920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97480"/>
            <a:ext cx="73152" cy="12435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437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Threat / failure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3136392"/>
            <a:ext cx="4581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t>Operator shell on host root, lateral movement between co-resident services, service compromise reaching kernel APIs, undisciplined per-service hardening drift, post-install software introduction outside the release pipeline.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1207008"/>
            <a:ext cx="5833872" cy="2734056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42432" y="1207008"/>
            <a:ext cx="73152" cy="27340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5331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Technical implementation details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645920"/>
            <a:ext cx="5522976" cy="2203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t>- Boot the host with only systemd, sshd, auditd, chrony, and lxc/incus/nspawn.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41648"/>
            <a:ext cx="73152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t>Userns idmap and overlayfs add small file-op overhead; benchmark per M31. No hypervisor cost — shared kernel.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15968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5968" y="4041648"/>
            <a:ext cx="73152" cy="10607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Air-gap note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17136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t>Container rootfs is a signed tarball, not a registry image. Fits the existing M16/M28/M30 pipeline with no Docker/registry footprint.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4041648"/>
            <a:ext cx="35661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041648"/>
            <a:ext cx="73152" cy="106070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187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Operational caveat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4480560"/>
            <a:ext cx="32552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t>Shared kernel — a kernel-LPE CVE crosses the boundary. For high-assurance workloads, layer Kata/gVisor or KVM under LXC. Misconfigured privileged container is worse than none.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468112"/>
            <a:ext cx="11000232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50992"/>
            <a:ext cx="10533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t>Validation: lxc-checkconfig, systemd-analyze security &lt;unit&gt;, verify userns mapping with `cat /proc/&lt;pid&gt;/uid_map`, attempt host shell from operator account (must fail), negative tests on capability and syscall denial inside the container.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Appliance pattern (extension)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Linux hardening for air-gapped mission systems</a:t>
            </a:r>
            <a:endParaRPr lang="en-US" sz="1200" dirty="0"/>
          </a:p>
        </p:txBody>
      </p:sp>
      <p:pic>
        <p:nvPicPr>
          <p:cNvPr id="35" name="Picture 34" descr="fam_runtim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35640" y="566928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41480" y="109728"/>
            <a:ext cx="1371600" cy="6583680"/>
          </a:xfrm>
          <a:prstGeom prst="line">
            <a:avLst/>
          </a:prstGeom>
          <a:noFill/>
          <a:ln w="7620">
            <a:solidFill>
              <a:srgbClr val="1F3A4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Recommendation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21208" y="10972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DEDE9"/>
                </a:solidFill>
              </a:rPr>
              <a:t>Build a small, signed, measured, least-privilege, auditable, recoverable Linux baseline.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1325880" cy="914400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09067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</a:rPr>
              <a:t>Boot and packages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2788920"/>
            <a:ext cx="1325880" cy="914400"/>
          </a:xfrm>
          <a:prstGeom prst="hexagon">
            <a:avLst/>
          </a:prstGeom>
          <a:solidFill>
            <a:srgbClr val="00A896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09067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88620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</a:rPr>
              <a:t>TPM and baselines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788920"/>
            <a:ext cx="1325880" cy="914400"/>
          </a:xfrm>
          <a:prstGeom prst="hexagon">
            <a:avLst/>
          </a:prstGeom>
          <a:solidFill>
            <a:srgbClr val="10B981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309067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Minimal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88620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</a:rPr>
              <a:t>Services and packages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26680" y="2788920"/>
            <a:ext cx="1325880" cy="914400"/>
          </a:xfrm>
          <a:prstGeom prst="hexagon">
            <a:avLst/>
          </a:prstGeom>
          <a:solidFill>
            <a:srgbClr val="7C3AED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6408" y="309067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35240" y="388620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</a:rPr>
              <a:t>MAC and sandboxing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12680" y="2788920"/>
            <a:ext cx="1325880" cy="914400"/>
          </a:xfrm>
          <a:prstGeom prst="hexagon">
            <a:avLst/>
          </a:prstGeom>
          <a:solidFill>
            <a:srgbClr val="E11D48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22408" y="3090672"/>
            <a:ext cx="11155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Recoverable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21240" y="388620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</a:rPr>
              <a:t>Images and rollback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07492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Operate the baseline through controlled imports, performance gates, audit evidence, tested rollback, and expiring waivers.</a:t>
            </a:r>
            <a:endParaRPr lang="en-US" sz="1500" dirty="0"/>
          </a:p>
        </p:txBody>
      </p:sp>
      <p:pic>
        <p:nvPicPr>
          <p:cNvPr id="30" name="Picture 29" descr="clo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63040"/>
            <a:ext cx="9235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Acronym Glossary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Compact expansions for the highest-impact terms used across the deck.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3502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AIDE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335024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Advanced Intrusion Detection Environment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62272" y="1188720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33502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BPF/eBPF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76672" y="1335024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Berkeley Packet Filter / extended BPF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84464" y="1188720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133502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CM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98864" y="1335024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Configuration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1901952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048256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FIM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048256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File Integrity Monitoring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62272" y="1901952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2048256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IOMMU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76672" y="2048256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Input-Output Memory Management Unit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84464" y="1901952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03336" y="2048256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KSPP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98864" y="2048256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Kernel Self-Protection Project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2615184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76148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LUKS2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2761488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Linux Unified Key Setup version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62272" y="2615184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276148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MAC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2761488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Mandatory Access Control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84464" y="2615184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276148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MOK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98864" y="2761488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Machine Owner Key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328416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347472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PAM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54480" y="3474720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Pluggable Authentication Modules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62272" y="3328416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47472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PCR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76672" y="3474720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Platform Configuration Register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84464" y="3328416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3336" y="347472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PTP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98864" y="3474720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Precision Time Protocol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041648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4187952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SBOM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54480" y="4187952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Software Bill of Materials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62272" y="4041648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81144" y="4187952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TPM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76672" y="4187952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Trusted Platform Module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84464" y="4041648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EEF7F6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03336" y="4187952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UEFI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98864" y="4187952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Unified Extensible Firmware Interface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" y="4754880"/>
            <a:ext cx="36118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" y="4901184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47E78"/>
                </a:solidFill>
              </a:rPr>
              <a:t>WORM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554480" y="4901184"/>
            <a:ext cx="25146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Write Once, Read Many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Glossary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Official sources and local presentation inputs used to ground the deck.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24712"/>
            <a:ext cx="914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78992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NIST SP 800-123, Guide to General Server Security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56048" y="1078992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https://csrc.nist.gov/pubs/sp/800/123/final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Server security control planning, deployment, operation, and maintenance.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591056"/>
            <a:ext cx="9144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45336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NIST SP 800-53 Rev.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545336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https://csrc.nist.gov/pubs/sp/800/53/r5/upd1/final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746504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Control families for access control, audit, configuration management, system integrity, and supply-chain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057400"/>
            <a:ext cx="914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11680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DISA STIGs Document Library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011680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https://public.cyber.mil/stigs/downloads/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212848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RHEL 8/9 STIG baselines and SCAP benchmarks for defense environments.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523744"/>
            <a:ext cx="9144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47802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Red Hat Enterprise Linux 9 Security Hardening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2478024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https://docs.redhat.com/en/documentation/red_hat_enterprise_linux/9/html-single/security_hardening/security_hardening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679192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RHEL hardening, OpenSCAP, audit, cryptographic policy, and operational guidance.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990088"/>
            <a:ext cx="914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9443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Red Hat Using SELinux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944368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https://docs.redhat.com/en/documentation/red_hat_enterprise_linux/9/html-single/using_selinux/index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145536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SELinux architecture, enforcement, AVC denials, and policy management.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456432"/>
            <a:ext cx="9144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410712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Linux Kernel dm-verity Documentation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3410712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https://docs.kernel.org/admin-guide/device-mapper/verity.html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611880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Transparent block-device integrity checking using cryptographic hash trees.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3922776"/>
            <a:ext cx="914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877056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Linux Kernel fs-verity Documentation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3877056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https://docs.kernel.org/filesystems/fsverity.html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078224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Read-only file authenticity protection using Merkle trees.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4389120"/>
            <a:ext cx="9144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343400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systemd.exec Manual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56048" y="4343400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https://www.freedesktop.org/software/systemd/man/systemd.exec.html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4544568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Service sandboxing controls such as NoNewPrivileges, ProtectSystem, and SystemCallFilter.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4855464"/>
            <a:ext cx="914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80974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OpenSCAP Security Guide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56048" y="4809744"/>
            <a:ext cx="6355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47E78"/>
                </a:solidFill>
              </a:rPr>
              <a:t>https://www.open-scap.org/security-policies/scap-security-guide/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5010912"/>
            <a:ext cx="10424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Machine-readable security baselines and automated compliance evaluation.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5870448"/>
            <a:ext cx="107899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5870448"/>
            <a:ext cx="731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6016752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Local sources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6968" y="6309360"/>
            <a:ext cx="1047902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Hardening_Cloud_Native_Compute.pptx, COS_Security_Hardening.pptx, Titanium_Hardened_Linux_Blueprint_(2).pptx, unnamed (3).png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65379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Linux hardening for air-gapped mission systems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11667</Words>
  <Application>Microsoft Office PowerPoint</Application>
  <PresentationFormat>Widescreen</PresentationFormat>
  <Paragraphs>1094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Mission-Critical Air-Gapped Hardening</dc:title>
  <dc:subject>Mission-critical Linux hardening</dc:subject>
  <dc:creator>Codex</dc:creator>
  <cp:lastModifiedBy>Felix Kr</cp:lastModifiedBy>
  <cp:revision>3</cp:revision>
  <dcterms:created xsi:type="dcterms:W3CDTF">2026-04-27T15:49:22Z</dcterms:created>
  <dcterms:modified xsi:type="dcterms:W3CDTF">2026-04-27T20:09:25Z</dcterms:modified>
</cp:coreProperties>
</file>