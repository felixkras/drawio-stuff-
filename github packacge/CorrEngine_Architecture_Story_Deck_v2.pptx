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7E888-165F-4EC4-AADC-DA5F6B10E672}" type="datetimeFigureOut">
              <a:rPr lang="en-IL" smtClean="0"/>
              <a:t>03/05/2026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EAB84F-D237-4908-A3FE-9A9903B2F03A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64429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Hidden technical detail: D(Ei,Ej) = Σ(wk*dk). Weights from SRS example: temporal 0.30, spatial 0.25, MITRE 0.25, sensor 0.10, risk 0.10. Temporal normalization uses minute delta capped at 1.0. Spatial compares hostname/subnet/other. MITRE uses Jaccard distance. Sensor is 0 or 1. Risk uses linear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Hidden detail: Example distance matrix uses events NET1, EDR2, OS3, NET4, NET3, RF5 and epsilon 0.7. Candidate neighbor links are values &lt;= 0.7.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Hidden detail: Core point means at least minPts neighbors within epsilon. Border point is inside a core neighborhood but has fewer neighbors. Noise is neither core nor border.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Hidden detail: Escalation can be automatic when aggregate risk exceeds threshold or a critical asset is involved. Incidents sharing &gt;50% of events can be merged.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94360"/>
            <a:ext cx="47548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42D3FF"/>
                </a:solidFill>
                <a:latin typeface="Aptos"/>
              </a:rPr>
              <a:t>ARCHITECTURE + VALUE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6766560" cy="1097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000" b="1">
                <a:solidFill>
                  <a:srgbClr val="F4F7FC"/>
                </a:solidFill>
                <a:latin typeface="Aptos"/>
              </a:rPr>
              <a:t>Correlation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85216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000" b="0">
                <a:solidFill>
                  <a:srgbClr val="B4C0D2"/>
                </a:solidFill>
                <a:latin typeface="Aptos"/>
              </a:rPr>
              <a:t>From parallel security events to explainable incidents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822960"/>
            <a:ext cx="4983480" cy="502920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42D3FF"/>
          </a:solidFill>
          <a:ln>
            <a:solidFill>
              <a:srgbClr val="42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NET1</a:t>
            </a:r>
          </a:p>
        </p:txBody>
      </p:sp>
      <p:sp>
        <p:nvSpPr>
          <p:cNvPr id="7" name="Oval 6"/>
          <p:cNvSpPr/>
          <p:nvPr/>
        </p:nvSpPr>
        <p:spPr>
          <a:xfrm>
            <a:off x="7955279" y="2057400"/>
            <a:ext cx="640080" cy="640080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EDR2</a:t>
            </a:r>
          </a:p>
        </p:txBody>
      </p:sp>
      <p:sp>
        <p:nvSpPr>
          <p:cNvPr id="8" name="Oval 7"/>
          <p:cNvSpPr/>
          <p:nvPr/>
        </p:nvSpPr>
        <p:spPr>
          <a:xfrm>
            <a:off x="7132320" y="2926080"/>
            <a:ext cx="640080" cy="640080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OS3</a:t>
            </a:r>
          </a:p>
        </p:txBody>
      </p:sp>
      <p:sp>
        <p:nvSpPr>
          <p:cNvPr id="9" name="Oval 8"/>
          <p:cNvSpPr/>
          <p:nvPr/>
        </p:nvSpPr>
        <p:spPr>
          <a:xfrm>
            <a:off x="8366760" y="3611880"/>
            <a:ext cx="640080" cy="64008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NET4</a:t>
            </a:r>
          </a:p>
        </p:txBody>
      </p:sp>
      <p:sp>
        <p:nvSpPr>
          <p:cNvPr id="10" name="Oval 9"/>
          <p:cNvSpPr/>
          <p:nvPr/>
        </p:nvSpPr>
        <p:spPr>
          <a:xfrm>
            <a:off x="9326880" y="2606040"/>
            <a:ext cx="640080" cy="640080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NET3</a:t>
            </a:r>
          </a:p>
        </p:txBody>
      </p:sp>
      <p:sp>
        <p:nvSpPr>
          <p:cNvPr id="11" name="Oval 10"/>
          <p:cNvSpPr/>
          <p:nvPr/>
        </p:nvSpPr>
        <p:spPr>
          <a:xfrm>
            <a:off x="10195560" y="4297680"/>
            <a:ext cx="640080" cy="640080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RF5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69480" y="1645920"/>
            <a:ext cx="914399" cy="685800"/>
          </a:xfrm>
          <a:prstGeom prst="line">
            <a:avLst/>
          </a:prstGeom>
          <a:ln w="25400">
            <a:solidFill>
              <a:srgbClr val="42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406640" y="2331720"/>
            <a:ext cx="777239" cy="868680"/>
          </a:xfrm>
          <a:prstGeom prst="line">
            <a:avLst/>
          </a:prstGeom>
          <a:ln w="25400">
            <a:solidFill>
              <a:srgbClr val="42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183879" y="2331720"/>
            <a:ext cx="502921" cy="1508760"/>
          </a:xfrm>
          <a:prstGeom prst="line">
            <a:avLst/>
          </a:prstGeom>
          <a:ln w="25400">
            <a:solidFill>
              <a:srgbClr val="42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686800" y="2880360"/>
            <a:ext cx="960120" cy="960120"/>
          </a:xfrm>
          <a:prstGeom prst="line">
            <a:avLst/>
          </a:prstGeom>
          <a:ln w="25400">
            <a:solidFill>
              <a:srgbClr val="42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406640" y="3200400"/>
            <a:ext cx="1280160" cy="640080"/>
          </a:xfrm>
          <a:prstGeom prst="line">
            <a:avLst/>
          </a:prstGeom>
          <a:ln w="25400">
            <a:solidFill>
              <a:srgbClr val="42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55279" y="5074920"/>
            <a:ext cx="32918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600" b="1">
                <a:solidFill>
                  <a:srgbClr val="F4F7FC"/>
                </a:solidFill>
                <a:latin typeface="Aptos"/>
              </a:rPr>
              <a:t>Incident cluster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4160520"/>
            <a:ext cx="12344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A78BFA"/>
                </a:solidFill>
                <a:latin typeface="Aptos"/>
              </a:rPr>
              <a:t>Outlier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834640"/>
            <a:ext cx="5166360" cy="621792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2834640"/>
            <a:ext cx="73152" cy="621792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2944368"/>
            <a:ext cx="49377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Validates + normalizes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255264"/>
            <a:ext cx="4937760" cy="109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Create a common event language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84448"/>
            <a:ext cx="5166360" cy="621792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584448"/>
            <a:ext cx="73152" cy="62179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3694176"/>
            <a:ext cx="49377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Suppresses noise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005072"/>
            <a:ext cx="4937760" cy="109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Keep false positives out of clusters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334256"/>
            <a:ext cx="5166360" cy="621792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334256"/>
            <a:ext cx="73152" cy="6217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4443984"/>
            <a:ext cx="49377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Correlates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754880"/>
            <a:ext cx="4937760" cy="109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Distance-based clustering across dimensions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084064"/>
            <a:ext cx="5166360" cy="621792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5084064"/>
            <a:ext cx="73152" cy="6217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5193792"/>
            <a:ext cx="49377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Manages lifecycle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504688"/>
            <a:ext cx="4937760" cy="109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Create, escalate, merge, and close incidents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What CorrEngine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02/24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212080" cy="14630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73152" cy="14630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1435608"/>
            <a:ext cx="49834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Noise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746504"/>
            <a:ext cx="4983480" cy="9509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Drops duplicates, aggregates repeats, and suppresses known benign activity.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325880"/>
            <a:ext cx="5212080" cy="14630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26480" y="1325880"/>
            <a:ext cx="73152" cy="146304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91072" y="1435608"/>
            <a:ext cx="49834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Context preservation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1746504"/>
            <a:ext cx="4983480" cy="9509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Joins evidence across time, host, sensor, MITRE, and risk dimensions.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54680"/>
            <a:ext cx="5212080" cy="14630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154680"/>
            <a:ext cx="73152" cy="14630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3264408"/>
            <a:ext cx="49834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Incident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" y="3575304"/>
            <a:ext cx="4983480" cy="9509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Produces fewer, richer incidents instead of isolated alerts.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3154680"/>
            <a:ext cx="5212080" cy="14630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3154680"/>
            <a:ext cx="73152" cy="1463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91072" y="3264408"/>
            <a:ext cx="49834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Operational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3575304"/>
            <a:ext cx="4983480" cy="9509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Supports merging, escalation, traceability, and downstream notification.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6636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Value story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577840"/>
            <a:ext cx="2057400" cy="566928"/>
          </a:xfrm>
          <a:prstGeom prst="roundRect">
            <a:avLst/>
          </a:prstGeom>
          <a:solidFill>
            <a:srgbClr val="566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5724144"/>
            <a:ext cx="1874519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400" b="1">
                <a:solidFill>
                  <a:srgbClr val="F4F7FC"/>
                </a:solidFill>
                <a:latin typeface="Aptos"/>
              </a:rPr>
              <a:t>Raw telemetry</a:t>
            </a:r>
          </a:p>
        </p:txBody>
      </p:sp>
      <p:sp>
        <p:nvSpPr>
          <p:cNvPr id="25" name="Chevron 24"/>
          <p:cNvSpPr/>
          <p:nvPr/>
        </p:nvSpPr>
        <p:spPr>
          <a:xfrm>
            <a:off x="2697480" y="5641848"/>
            <a:ext cx="502920" cy="411480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474720" y="5577840"/>
            <a:ext cx="2057400" cy="566928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66160" y="5724144"/>
            <a:ext cx="1874519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400" b="1">
                <a:solidFill>
                  <a:srgbClr val="0D111D"/>
                </a:solidFill>
                <a:latin typeface="Aptos"/>
              </a:rPr>
              <a:t>Comparable events</a:t>
            </a:r>
          </a:p>
        </p:txBody>
      </p:sp>
      <p:sp>
        <p:nvSpPr>
          <p:cNvPr id="28" name="Chevron 27"/>
          <p:cNvSpPr/>
          <p:nvPr/>
        </p:nvSpPr>
        <p:spPr>
          <a:xfrm>
            <a:off x="5440680" y="5641848"/>
            <a:ext cx="502920" cy="411480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17920" y="5577840"/>
            <a:ext cx="2057400" cy="56692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5724144"/>
            <a:ext cx="1874519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400" b="1">
                <a:solidFill>
                  <a:srgbClr val="0D111D"/>
                </a:solidFill>
                <a:latin typeface="Aptos"/>
              </a:rPr>
              <a:t>Correlated cluster</a:t>
            </a:r>
          </a:p>
        </p:txBody>
      </p:sp>
      <p:sp>
        <p:nvSpPr>
          <p:cNvPr id="31" name="Chevron 30"/>
          <p:cNvSpPr/>
          <p:nvPr/>
        </p:nvSpPr>
        <p:spPr>
          <a:xfrm>
            <a:off x="8183879" y="5641848"/>
            <a:ext cx="502920" cy="411480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961120" y="5577840"/>
            <a:ext cx="2057400" cy="56692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52560" y="5724144"/>
            <a:ext cx="1874519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400" b="1">
                <a:solidFill>
                  <a:srgbClr val="0D111D"/>
                </a:solidFill>
                <a:latin typeface="Aptos"/>
              </a:rPr>
              <a:t>Actionable incident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Parallel event story we will follow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03/24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B4C0D2"/>
                </a:solidFill>
                <a:latin typeface="Aptos"/>
              </a:rPr>
              <a:t>Four tracks arrive independently. The engine must decide which ones belong together, which ones stay separate, and which ones are safely suppressed.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1097280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773936"/>
            <a:ext cx="914400" cy="310896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810512"/>
            <a:ext cx="859536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Track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755648"/>
            <a:ext cx="36576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SRV-DB01 multi-stage attack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755648"/>
            <a:ext cx="57607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EDR2 process injection | OS3 registry modification | NET1 beaconing | NET4 HTTP exfiltration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43200"/>
            <a:ext cx="1097280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7240" y="2871216"/>
            <a:ext cx="914400" cy="310896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907792"/>
            <a:ext cx="859536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Track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852928"/>
            <a:ext cx="36576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RF anomaly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852928"/>
            <a:ext cx="57607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RF5 rogue access point | No close neighbors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7280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77240" y="3968496"/>
            <a:ext cx="91440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4005072"/>
            <a:ext cx="859536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Track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950208"/>
            <a:ext cx="36576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Benign 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950208"/>
            <a:ext cx="57607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PATCH7 scheduled patch | PATCH8 repeat patch | Candidate for suppression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37759"/>
            <a:ext cx="1097280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" y="5065775"/>
            <a:ext cx="914400" cy="310896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5102351"/>
            <a:ext cx="859536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Track 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047487"/>
            <a:ext cx="36576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Remote workstation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5047487"/>
            <a:ext cx="576072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NET3 beaconing from ENG-WS17 | May bridge into Track A cluster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High-level architecture: publish, process, persist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04/24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645920" cy="1280160"/>
          </a:xfrm>
          <a:prstGeom prst="roundRect">
            <a:avLst/>
          </a:prstGeom>
          <a:solidFill>
            <a:srgbClr val="566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2743200"/>
            <a:ext cx="14630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600" b="1">
                <a:solidFill>
                  <a:srgbClr val="F4F7FC"/>
                </a:solidFill>
                <a:latin typeface="Aptos"/>
              </a:rPr>
              <a:t>Sensors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331720"/>
            <a:ext cx="1645920" cy="128016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34640" y="2743200"/>
            <a:ext cx="14630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600" b="1">
                <a:solidFill>
                  <a:srgbClr val="0D111D"/>
                </a:solidFill>
                <a:latin typeface="Aptos"/>
              </a:rPr>
              <a:t>Pub/sub broker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2331720"/>
            <a:ext cx="2240280" cy="1280160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74920" y="2743200"/>
            <a:ext cx="205740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600" b="1">
                <a:solidFill>
                  <a:srgbClr val="0D111D"/>
                </a:solidFill>
                <a:latin typeface="Aptos"/>
              </a:rPr>
              <a:t>CorrEngine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331720"/>
            <a:ext cx="1645920" cy="128016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01000" y="2743200"/>
            <a:ext cx="14630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600" b="1">
                <a:solidFill>
                  <a:srgbClr val="0D111D"/>
                </a:solidFill>
                <a:latin typeface="Aptos"/>
              </a:rPr>
              <a:t>Sequential 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331720"/>
            <a:ext cx="1645920" cy="12801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49840" y="2743200"/>
            <a:ext cx="14630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600" b="1">
                <a:solidFill>
                  <a:srgbClr val="0D111D"/>
                </a:solidFill>
                <a:latin typeface="Aptos"/>
              </a:rPr>
              <a:t>Consumers / API</a:t>
            </a:r>
          </a:p>
        </p:txBody>
      </p:sp>
      <p:sp>
        <p:nvSpPr>
          <p:cNvPr id="16" name="Chevron 15"/>
          <p:cNvSpPr/>
          <p:nvPr/>
        </p:nvSpPr>
        <p:spPr>
          <a:xfrm>
            <a:off x="2057400" y="2670048"/>
            <a:ext cx="502920" cy="411480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hevron 16"/>
          <p:cNvSpPr/>
          <p:nvPr/>
        </p:nvSpPr>
        <p:spPr>
          <a:xfrm>
            <a:off x="4206240" y="2670048"/>
            <a:ext cx="502920" cy="411480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hevron 17"/>
          <p:cNvSpPr/>
          <p:nvPr/>
        </p:nvSpPr>
        <p:spPr>
          <a:xfrm>
            <a:off x="6355080" y="2670048"/>
            <a:ext cx="502920" cy="411480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hevron 18"/>
          <p:cNvSpPr/>
          <p:nvPr/>
        </p:nvSpPr>
        <p:spPr>
          <a:xfrm>
            <a:off x="8503920" y="2670048"/>
            <a:ext cx="502920" cy="411480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120640" y="2578608"/>
            <a:ext cx="594360" cy="27432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38928" y="2651760"/>
            <a:ext cx="557784" cy="109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F4F7FC"/>
                </a:solidFill>
                <a:latin typeface="Aptos"/>
              </a:rPr>
              <a:t>Ingest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06440" y="2578608"/>
            <a:ext cx="594360" cy="27432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24728" y="2651760"/>
            <a:ext cx="557784" cy="109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F4F7FC"/>
                </a:solidFill>
                <a:latin typeface="Aptos"/>
              </a:rPr>
              <a:t>Normalize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578608"/>
            <a:ext cx="594360" cy="27432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10528" y="2651760"/>
            <a:ext cx="557784" cy="109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F4F7FC"/>
                </a:solidFill>
                <a:latin typeface="Aptos"/>
              </a:rPr>
              <a:t>Suppress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20640" y="2962656"/>
            <a:ext cx="594360" cy="27432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38928" y="3035808"/>
            <a:ext cx="557784" cy="109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F4F7FC"/>
                </a:solidFill>
                <a:latin typeface="Aptos"/>
              </a:rPr>
              <a:t>Correlate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2962656"/>
            <a:ext cx="594360" cy="27432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24728" y="3035808"/>
            <a:ext cx="557784" cy="109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F4F7FC"/>
                </a:solidFill>
                <a:latin typeface="Aptos"/>
              </a:rPr>
              <a:t>Manage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1325880"/>
            <a:ext cx="1097280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B4C0D2"/>
                </a:solidFill>
                <a:latin typeface="Aptos"/>
              </a:rPr>
              <a:t>Only the broker and sequential database are shown as requested. Infrastructure detail is intentionally abstracted.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92040"/>
            <a:ext cx="3337560" cy="91440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960" y="4892040"/>
            <a:ext cx="73152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87552" y="5001768"/>
            <a:ext cx="31089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Less noise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" y="5312664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fewer alerts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0" y="4892040"/>
            <a:ext cx="3337560" cy="91440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0" y="4892040"/>
            <a:ext cx="73152" cy="91440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36592" y="5001768"/>
            <a:ext cx="31089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More context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36592" y="5312664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cross-sensor story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4892040"/>
            <a:ext cx="3337560" cy="91440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321040" y="4892040"/>
            <a:ext cx="73152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85632" y="5001768"/>
            <a:ext cx="31089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Faster 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5632" y="5312664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incident ready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Canonical event envelope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05/24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B4C0D2"/>
                </a:solidFill>
                <a:latin typeface="Aptos"/>
              </a:rPr>
              <a:t>Before correlation can happen, every incoming event is transformed into a shared structure that supports comparison.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39" y="1691640"/>
            <a:ext cx="4754880" cy="40690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977639" y="1874519"/>
            <a:ext cx="1188720" cy="347472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23360" y="1956815"/>
            <a:ext cx="10972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1">
                <a:solidFill>
                  <a:srgbClr val="42D3FF"/>
                </a:solidFill>
                <a:latin typeface="Aptos"/>
              </a:rP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938527"/>
            <a:ext cx="2743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F4F7FC"/>
                </a:solidFill>
                <a:latin typeface="Aptos"/>
              </a:rPr>
              <a:t>eventId, eventType, timestamp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2496312"/>
            <a:ext cx="1188720" cy="347472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23360" y="2578608"/>
            <a:ext cx="10972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1">
                <a:solidFill>
                  <a:srgbClr val="42D3FF"/>
                </a:solidFill>
                <a:latin typeface="Aptos"/>
              </a:rPr>
              <a:t>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560320"/>
            <a:ext cx="2743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F4F7FC"/>
                </a:solidFill>
                <a:latin typeface="Aptos"/>
              </a:rPr>
              <a:t>sensor type, source, destination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3118104"/>
            <a:ext cx="1188720" cy="347472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23360" y="3200400"/>
            <a:ext cx="10972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1">
                <a:solidFill>
                  <a:srgbClr val="42D3FF"/>
                </a:solidFill>
                <a:latin typeface="Aptos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182112"/>
            <a:ext cx="2743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F4F7FC"/>
                </a:solidFill>
                <a:latin typeface="Aptos"/>
              </a:rPr>
              <a:t>hostname, subnet, asset, site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3739896"/>
            <a:ext cx="1188720" cy="347472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0" y="3822192"/>
            <a:ext cx="10972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1">
                <a:solidFill>
                  <a:srgbClr val="42D3FF"/>
                </a:solidFill>
                <a:latin typeface="Aptos"/>
              </a:rPr>
              <a:t>Threat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3803904"/>
            <a:ext cx="2743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F4F7FC"/>
                </a:solidFill>
                <a:latin typeface="Aptos"/>
              </a:rPr>
              <a:t>MITRE tactic / technique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77639" y="4361688"/>
            <a:ext cx="1188720" cy="347472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23360" y="4443984"/>
            <a:ext cx="10972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1">
                <a:solidFill>
                  <a:srgbClr val="42D3FF"/>
                </a:solidFill>
                <a:latin typeface="Aptos"/>
              </a:rPr>
              <a:t>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4425696"/>
            <a:ext cx="2743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F4F7FC"/>
                </a:solidFill>
                <a:latin typeface="Aptos"/>
              </a:rPr>
              <a:t>severity, risk score, criticality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4983480"/>
            <a:ext cx="1188720" cy="347472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3360" y="5065776"/>
            <a:ext cx="10972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1">
                <a:solidFill>
                  <a:srgbClr val="42D3FF"/>
                </a:solidFill>
                <a:latin typeface="Aptos"/>
              </a:rPr>
              <a:t>Lifecycle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5047488"/>
            <a:ext cx="2743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F4F7FC"/>
                </a:solidFill>
                <a:latin typeface="Aptos"/>
              </a:rPr>
              <a:t>ingested, suppressed, clustered, incident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1920240"/>
            <a:ext cx="2468880" cy="82296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5800" y="1920240"/>
            <a:ext cx="73152" cy="82296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0392" y="2029968"/>
            <a:ext cx="22402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Comparable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2340864"/>
            <a:ext cx="224028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same dimensions across sensors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063240"/>
            <a:ext cx="2468880" cy="82296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5800" y="3063240"/>
            <a:ext cx="73152" cy="8229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0392" y="3172968"/>
            <a:ext cx="22402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Explainable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3483864"/>
            <a:ext cx="224028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why events did or did not join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4206240"/>
            <a:ext cx="2468880" cy="82296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85800" y="4206240"/>
            <a:ext cx="73152" cy="8229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0392" y="4315968"/>
            <a:ext cx="22402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Traceable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4626864"/>
            <a:ext cx="224028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supports incident audit trail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15400" y="2011680"/>
            <a:ext cx="256032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915400" y="2011680"/>
            <a:ext cx="73152" cy="868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079992" y="2121408"/>
            <a:ext cx="23317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Supports distance math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79992" y="2432304"/>
            <a:ext cx="2331720" cy="3566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weights need clean dimensions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15400" y="3246120"/>
            <a:ext cx="256032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915400" y="3246120"/>
            <a:ext cx="73152" cy="8686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79992" y="3355848"/>
            <a:ext cx="23317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Supports policy logic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79992" y="3666744"/>
            <a:ext cx="2331720" cy="3566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suppression and bypass rules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Raw events arrive in parallel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06/24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B4C0D2"/>
                </a:solidFill>
                <a:latin typeface="Aptos"/>
              </a:rPr>
              <a:t>At ingestion time, nothing is yet correlated. The engine sees independent observations arriving from different sources at different moments.</a:t>
            </a:r>
          </a:p>
        </p:txBody>
      </p:sp>
      <p:pic>
        <p:nvPicPr>
          <p:cNvPr id="7" name="Picture 6" descr="swim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69153"/>
            <a:ext cx="9964238" cy="398569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5577840"/>
            <a:ext cx="3291840" cy="6400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5577840"/>
            <a:ext cx="73152" cy="64008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5687568"/>
            <a:ext cx="30632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Key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998464"/>
            <a:ext cx="3063240" cy="1280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Temporal proximity helps, but time alone never proves correlation.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5577840"/>
            <a:ext cx="3291840" cy="6400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5577840"/>
            <a:ext cx="73152" cy="640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2272" y="5687568"/>
            <a:ext cx="30632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Why visualized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5998464"/>
            <a:ext cx="3063240" cy="1280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Mixed audiences can see that the engine starts with ambiguity, not certainty.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5577840"/>
            <a:ext cx="3566160" cy="6400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63840" y="5577840"/>
            <a:ext cx="73152" cy="640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28432" y="5687568"/>
            <a:ext cx="33375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Next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2" y="5998464"/>
            <a:ext cx="3337560" cy="1280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Every event must pass ingest controls before it can enter the candidate pool.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Stage 1: ingestion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07/24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77724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B4C0D2"/>
                </a:solidFill>
                <a:latin typeface="Aptos"/>
              </a:rPr>
              <a:t>The first job is defensive: protect data quality and preserve trustworthy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828800"/>
            <a:ext cx="1051560" cy="438912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9601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NET1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651760"/>
            <a:ext cx="1051560" cy="43891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79776"/>
            <a:ext cx="9601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EDR2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474720"/>
            <a:ext cx="1051560" cy="43891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602736"/>
            <a:ext cx="9601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OS3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97680"/>
            <a:ext cx="1051560" cy="438912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425696"/>
            <a:ext cx="9601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RF5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1645920"/>
            <a:ext cx="4023360" cy="411480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67328" y="1828800"/>
            <a:ext cx="19202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800" b="1">
                <a:solidFill>
                  <a:srgbClr val="F4F7FC"/>
                </a:solidFill>
                <a:latin typeface="Aptos"/>
              </a:rPr>
              <a:t>INGESTION GATE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2331720"/>
            <a:ext cx="3383280" cy="402336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200400" y="2414016"/>
            <a:ext cx="256032" cy="237744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566160" y="2432304"/>
            <a:ext cx="265176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F4F7FC"/>
                </a:solidFill>
                <a:latin typeface="Aptos"/>
              </a:rPr>
              <a:t>Schema validation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2944368"/>
            <a:ext cx="3383280" cy="402336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200400" y="3026664"/>
            <a:ext cx="256032" cy="237744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66160" y="3044952"/>
            <a:ext cx="265176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F4F7FC"/>
                </a:solidFill>
                <a:latin typeface="Aptos"/>
              </a:rPr>
              <a:t>Idempotency check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3557015"/>
            <a:ext cx="3383280" cy="402336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200400" y="3639312"/>
            <a:ext cx="256032" cy="237744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66160" y="3657600"/>
            <a:ext cx="265176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F4F7FC"/>
                </a:solidFill>
                <a:latin typeface="Aptos"/>
              </a:rPr>
              <a:t>Persistence write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63240" y="4169664"/>
            <a:ext cx="3383280" cy="402336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200400" y="4251960"/>
            <a:ext cx="256032" cy="237744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66160" y="4270248"/>
            <a:ext cx="265176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F4F7FC"/>
                </a:solidFill>
                <a:latin typeface="Aptos"/>
              </a:rPr>
              <a:t>Archive trigger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63240" y="4782312"/>
            <a:ext cx="3383280" cy="402336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3200400" y="4864608"/>
            <a:ext cx="256032" cy="237744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66160" y="4882896"/>
            <a:ext cx="265176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F4F7FC"/>
                </a:solidFill>
                <a:latin typeface="Aptos"/>
              </a:rPr>
              <a:t>ACK / retry decision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80960" y="2057400"/>
            <a:ext cx="3474720" cy="91440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680960" y="2057400"/>
            <a:ext cx="73152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45552" y="2167128"/>
            <a:ext cx="32461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Accept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45552" y="2478024"/>
            <a:ext cx="324612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trusted event enters candidate pool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0" y="3337560"/>
            <a:ext cx="3474720" cy="91440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680960" y="3337560"/>
            <a:ext cx="73152" cy="9144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45552" y="3447288"/>
            <a:ext cx="32461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Retry / DLQ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3758184"/>
            <a:ext cx="324612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bad or unprocessable messages stay visible</a:t>
            </a:r>
          </a:p>
        </p:txBody>
      </p:sp>
      <p:sp>
        <p:nvSpPr>
          <p:cNvPr id="40" name="Chevron 39"/>
          <p:cNvSpPr/>
          <p:nvPr/>
        </p:nvSpPr>
        <p:spPr>
          <a:xfrm>
            <a:off x="2011680" y="3017520"/>
            <a:ext cx="502920" cy="384048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Chevron 40"/>
          <p:cNvSpPr/>
          <p:nvPr/>
        </p:nvSpPr>
        <p:spPr>
          <a:xfrm>
            <a:off x="6903720" y="3017520"/>
            <a:ext cx="502920" cy="384048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Validation and idempotency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08/24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657600" cy="356616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356616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527048"/>
            <a:ext cx="34290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What must be true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1874519"/>
            <a:ext cx="256032" cy="256032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901952"/>
            <a:ext cx="28346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F4F7FC"/>
                </a:solidFill>
                <a:latin typeface="Aptos"/>
              </a:rPr>
              <a:t>Schema matches expected payload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377439"/>
            <a:ext cx="256032" cy="256032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04872"/>
            <a:ext cx="28346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F4F7FC"/>
                </a:solidFill>
                <a:latin typeface="Aptos"/>
              </a:rPr>
              <a:t>eventId is present and unique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880360"/>
            <a:ext cx="256032" cy="256032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07792"/>
            <a:ext cx="28346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F4F7FC"/>
                </a:solidFill>
                <a:latin typeface="Aptos"/>
              </a:rPr>
              <a:t>Required fields can be normalized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383280"/>
            <a:ext cx="256032" cy="256032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10712"/>
            <a:ext cx="28346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F4F7FC"/>
                </a:solidFill>
                <a:latin typeface="Aptos"/>
              </a:rPr>
              <a:t>Event timestamp is usable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886200"/>
            <a:ext cx="256032" cy="256032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913632"/>
            <a:ext cx="28346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F4F7FC"/>
                </a:solidFill>
                <a:latin typeface="Aptos"/>
              </a:rPr>
              <a:t>Source metadata is trustworthy enough to continue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417320"/>
            <a:ext cx="6812280" cy="356616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63440" y="1417320"/>
            <a:ext cx="73152" cy="3566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28032" y="1527048"/>
            <a:ext cx="65836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Idempotency 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28032" y="1837944"/>
            <a:ext cx="6583680" cy="30540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The same event should not create duplicate evidence or duplicate incidents.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2148840"/>
            <a:ext cx="1463040" cy="658368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02352" y="2368296"/>
            <a:ext cx="13258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eventId=NET1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20" y="2148840"/>
            <a:ext cx="1463040" cy="658368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34072" y="2368296"/>
            <a:ext cx="13258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eventId=NET1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2148840"/>
            <a:ext cx="1463040" cy="65836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65792" y="2368296"/>
            <a:ext cx="13258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eventId=NET3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063240"/>
            <a:ext cx="43891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F4F7FC"/>
                </a:solidFill>
                <a:latin typeface="Aptos"/>
              </a:rPr>
              <a:t>NET1 is retried or re-sent → still one logical event in the system.</a:t>
            </a:r>
          </a:p>
        </p:txBody>
      </p:sp>
      <p:sp>
        <p:nvSpPr>
          <p:cNvPr id="30" name="Chevron 29"/>
          <p:cNvSpPr/>
          <p:nvPr/>
        </p:nvSpPr>
        <p:spPr>
          <a:xfrm>
            <a:off x="6355080" y="3657600"/>
            <a:ext cx="548640" cy="384048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086600" y="3547872"/>
            <a:ext cx="1920240" cy="56692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69480" y="3730752"/>
            <a:ext cx="15544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Single accepted record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5349240"/>
            <a:ext cx="10789920" cy="658368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5349240"/>
            <a:ext cx="73152" cy="6583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0392" y="5458968"/>
            <a:ext cx="10561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Why it matters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5769864"/>
            <a:ext cx="10561320" cy="1463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Without validation and idempotency, the engine could correlate bad payloads or count the same evidence multiple times.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Persist and acknowledge before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09/24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78992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B4C0D2"/>
                </a:solidFill>
                <a:latin typeface="Aptos"/>
              </a:rPr>
              <a:t>CorrEngine first commits the event trail, then allows higher-order logic to act on a durable record.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1737360"/>
            <a:ext cx="1600200" cy="4572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01952"/>
            <a:ext cx="14173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400" b="1">
                <a:solidFill>
                  <a:srgbClr val="0D111D"/>
                </a:solidFill>
                <a:latin typeface="Aptos"/>
              </a:rPr>
              <a:t>Broker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938528" y="2240280"/>
            <a:ext cx="18288" cy="3063240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49039" y="1737360"/>
            <a:ext cx="1600200" cy="457200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79" y="1901952"/>
            <a:ext cx="14173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400" b="1">
                <a:solidFill>
                  <a:srgbClr val="0D111D"/>
                </a:solidFill>
                <a:latin typeface="Aptos"/>
              </a:rPr>
              <a:t>CorrEngine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4568" y="2240280"/>
            <a:ext cx="18288" cy="3063240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46520" y="1737360"/>
            <a:ext cx="1600200" cy="457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59" y="1901952"/>
            <a:ext cx="14173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400" b="1">
                <a:solidFill>
                  <a:srgbClr val="0D111D"/>
                </a:solidFill>
                <a:latin typeface="Aptos"/>
              </a:rPr>
              <a:t>Database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42048" y="2240280"/>
            <a:ext cx="18288" cy="3063240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0" y="1737360"/>
            <a:ext cx="1600200" cy="4572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35440" y="1901952"/>
            <a:ext cx="14173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400" b="1">
                <a:solidFill>
                  <a:srgbClr val="0D111D"/>
                </a:solidFill>
                <a:latin typeface="Aptos"/>
              </a:rPr>
              <a:t>Archive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39528" y="2240280"/>
            <a:ext cx="18288" cy="3063240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2743200" y="2651760"/>
            <a:ext cx="1005839" cy="0"/>
          </a:xfrm>
          <a:prstGeom prst="line">
            <a:avLst/>
          </a:prstGeom>
          <a:ln w="25400">
            <a:solidFill>
              <a:srgbClr val="F4F7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88920" y="2487168"/>
            <a:ext cx="914399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B4C0D2"/>
                </a:solidFill>
                <a:latin typeface="Aptos"/>
              </a:rPr>
              <a:t>deliver event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49240" y="3246120"/>
            <a:ext cx="1097280" cy="0"/>
          </a:xfrm>
          <a:prstGeom prst="line">
            <a:avLst/>
          </a:prstGeom>
          <a:ln w="25400">
            <a:solidFill>
              <a:srgbClr val="F4F7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394959" y="3081527"/>
            <a:ext cx="100584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B4C0D2"/>
                </a:solidFill>
                <a:latin typeface="Aptos"/>
              </a:rPr>
              <a:t>write event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3749039" y="3794760"/>
            <a:ext cx="4297681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794759" y="3630168"/>
            <a:ext cx="420624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34D399"/>
                </a:solidFill>
                <a:latin typeface="Aptos"/>
              </a:rPr>
              <a:t>write OK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49240" y="4343400"/>
            <a:ext cx="3794760" cy="0"/>
          </a:xfrm>
          <a:prstGeom prst="line">
            <a:avLst/>
          </a:prstGeom>
          <a:ln w="25400">
            <a:solidFill>
              <a:srgbClr val="F4F7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94959" y="4178808"/>
            <a:ext cx="370332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B4C0D2"/>
                </a:solidFill>
                <a:latin typeface="Aptos"/>
              </a:rPr>
              <a:t>archive copy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743200" y="4892040"/>
            <a:ext cx="1005839" cy="0"/>
          </a:xfrm>
          <a:prstGeom prst="line">
            <a:avLst/>
          </a:prstGeom>
          <a:ln w="2540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788920" y="4727448"/>
            <a:ext cx="914399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34D399"/>
                </a:solidFill>
                <a:latin typeface="Aptos"/>
              </a:rPr>
              <a:t>ACK message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623560"/>
            <a:ext cx="3383280" cy="59436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" y="5623560"/>
            <a:ext cx="73152" cy="59436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" y="5733288"/>
            <a:ext cx="31546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Operational meaning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6044184"/>
            <a:ext cx="3154680" cy="822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ACK is not a “best effort” shortcut; it follows durable handling.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5623560"/>
            <a:ext cx="3383280" cy="59436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34840" y="5623560"/>
            <a:ext cx="73152" cy="5943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99432" y="5733288"/>
            <a:ext cx="31546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User-facing benefit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6044184"/>
            <a:ext cx="3154680" cy="822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Analysts can trust that the incident story is backed by stored evidence.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5623560"/>
            <a:ext cx="3383280" cy="59436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46720" y="5623560"/>
            <a:ext cx="73152" cy="5943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11312" y="5733288"/>
            <a:ext cx="31546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Resilience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6044184"/>
            <a:ext cx="3154680" cy="822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Failed writes should lead to retry logic rather than silent loss.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Normalization: sensor-native telemetry becomes comparable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10/24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01752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73152" cy="86868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664208"/>
            <a:ext cx="27889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75104"/>
            <a:ext cx="2788920" cy="3566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srcIP, dstIP, flow, beacon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88920"/>
            <a:ext cx="301752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788920"/>
            <a:ext cx="73152" cy="8686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2898648"/>
            <a:ext cx="27889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EDR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209544"/>
            <a:ext cx="2788920" cy="3566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process, parent, hash, user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023360"/>
            <a:ext cx="301752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4023360"/>
            <a:ext cx="73152" cy="868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4133088"/>
            <a:ext cx="27889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OSF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443984"/>
            <a:ext cx="2788920" cy="3566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registry, service, file, host</a:t>
            </a:r>
          </a:p>
        </p:txBody>
      </p:sp>
      <p:sp>
        <p:nvSpPr>
          <p:cNvPr id="18" name="Chevron 17"/>
          <p:cNvSpPr/>
          <p:nvPr/>
        </p:nvSpPr>
        <p:spPr>
          <a:xfrm>
            <a:off x="3977639" y="2743200"/>
            <a:ext cx="640080" cy="457200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54880" y="1645920"/>
            <a:ext cx="2743200" cy="347472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1828800"/>
            <a:ext cx="23774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800" b="1">
                <a:solidFill>
                  <a:srgbClr val="F4F7FC"/>
                </a:solidFill>
                <a:latin typeface="Aptos"/>
              </a:rPr>
              <a:t>Canonical event 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2331720"/>
            <a:ext cx="1920240" cy="256032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30368" y="2414016"/>
            <a:ext cx="1783080" cy="1280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42D3FF"/>
                </a:solidFill>
                <a:latin typeface="Aptos"/>
              </a:rPr>
              <a:t>identity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66360" y="2752344"/>
            <a:ext cx="1920240" cy="256032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30368" y="2834640"/>
            <a:ext cx="1783080" cy="1280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42D3FF"/>
                </a:solidFill>
                <a:latin typeface="Aptos"/>
              </a:rPr>
              <a:t>source/destination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66360" y="3172968"/>
            <a:ext cx="1920240" cy="256032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30368" y="3255264"/>
            <a:ext cx="1783080" cy="1280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42D3FF"/>
                </a:solidFill>
                <a:latin typeface="Aptos"/>
              </a:rPr>
              <a:t>hostname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6360" y="3593591"/>
            <a:ext cx="1920240" cy="256032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30368" y="3675888"/>
            <a:ext cx="1783080" cy="1280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42D3FF"/>
                </a:solidFill>
                <a:latin typeface="Aptos"/>
              </a:rPr>
              <a:t>MITRE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66360" y="4014215"/>
            <a:ext cx="1920240" cy="256032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230368" y="4096512"/>
            <a:ext cx="1783080" cy="1280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42D3FF"/>
                </a:solidFill>
                <a:latin typeface="Aptos"/>
              </a:rPr>
              <a:t>risk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6360" y="4434840"/>
            <a:ext cx="1920240" cy="256032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30368" y="4517136"/>
            <a:ext cx="1783080" cy="1280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42D3FF"/>
                </a:solidFill>
                <a:latin typeface="Aptos"/>
              </a:rPr>
              <a:t>timestamps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1691640"/>
            <a:ext cx="342900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818120" y="1691640"/>
            <a:ext cx="73152" cy="868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82712" y="1801368"/>
            <a:ext cx="32004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Comparable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2712" y="2112264"/>
            <a:ext cx="3200400" cy="3566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events now share dimensions for distance calculation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8120" y="2834640"/>
            <a:ext cx="342900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818120" y="2834640"/>
            <a:ext cx="73152" cy="86868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982712" y="2944368"/>
            <a:ext cx="32004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Explainable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82712" y="3255264"/>
            <a:ext cx="3200400" cy="3566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analysts can see why NET1 is closer to EDR2 than RF5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18120" y="3977639"/>
            <a:ext cx="342900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818120" y="3977639"/>
            <a:ext cx="73152" cy="868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82712" y="4087367"/>
            <a:ext cx="32004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Portable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82712" y="4398263"/>
            <a:ext cx="3200400" cy="3566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policy and clustering logic no longer depend on sensor-specific payloads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Enrichment adds operational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11/24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B4C0D2"/>
                </a:solidFill>
                <a:latin typeface="Aptos"/>
              </a:rPr>
              <a:t>Normalization makes events comparable; enrichment makes them meaningful.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65960"/>
            <a:ext cx="3017520" cy="28346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274320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800" b="1">
                <a:solidFill>
                  <a:srgbClr val="F4F7FC"/>
                </a:solidFill>
                <a:latin typeface="Aptos"/>
              </a:rPr>
              <a:t>Before enrichment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697480"/>
            <a:ext cx="2194560" cy="274320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2770632"/>
            <a:ext cx="2011680" cy="137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0">
                <a:solidFill>
                  <a:srgbClr val="F4F7FC"/>
                </a:solidFill>
                <a:latin typeface="Aptos"/>
              </a:rPr>
              <a:t>NET1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3136392"/>
            <a:ext cx="2194560" cy="274320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17320" y="3209544"/>
            <a:ext cx="2011680" cy="137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0">
                <a:solidFill>
                  <a:srgbClr val="F4F7FC"/>
                </a:solidFill>
                <a:latin typeface="Aptos"/>
              </a:rPr>
              <a:t>host=SRV-DB01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3575304"/>
            <a:ext cx="2194560" cy="274320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3648456"/>
            <a:ext cx="2011680" cy="137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0">
                <a:solidFill>
                  <a:srgbClr val="F4F7FC"/>
                </a:solidFill>
                <a:latin typeface="Aptos"/>
              </a:rPr>
              <a:t>sensor=Network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80" y="4014216"/>
            <a:ext cx="2194560" cy="274320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4087368"/>
            <a:ext cx="2011680" cy="137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0">
                <a:solidFill>
                  <a:srgbClr val="F4F7FC"/>
                </a:solidFill>
                <a:latin typeface="Aptos"/>
              </a:rPr>
              <a:t>tactic=C2</a:t>
            </a:r>
          </a:p>
        </p:txBody>
      </p:sp>
      <p:sp>
        <p:nvSpPr>
          <p:cNvPr id="17" name="Chevron 16"/>
          <p:cNvSpPr/>
          <p:nvPr/>
        </p:nvSpPr>
        <p:spPr>
          <a:xfrm>
            <a:off x="4206240" y="3108960"/>
            <a:ext cx="640080" cy="438912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74920" y="1783080"/>
            <a:ext cx="3200400" cy="32918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2011680"/>
            <a:ext cx="283464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800" b="1">
                <a:solidFill>
                  <a:srgbClr val="F4F7FC"/>
                </a:solidFill>
                <a:latin typeface="Aptos"/>
              </a:rPr>
              <a:t>After enrichment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2560320"/>
            <a:ext cx="2377440" cy="219456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77840" y="2615184"/>
            <a:ext cx="2194560" cy="1188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0D111D"/>
                </a:solidFill>
                <a:latin typeface="Aptos"/>
              </a:rPr>
              <a:t>asset criticality = high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2907791"/>
            <a:ext cx="2377440" cy="219456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7840" y="2962656"/>
            <a:ext cx="2194560" cy="1188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0D111D"/>
                </a:solidFill>
                <a:latin typeface="Aptos"/>
              </a:rPr>
              <a:t>owner = Finance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3255263"/>
            <a:ext cx="2377440" cy="21945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77840" y="3310128"/>
            <a:ext cx="2194560" cy="1188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0D111D"/>
                </a:solidFill>
                <a:latin typeface="Aptos"/>
              </a:rPr>
              <a:t>site = HQ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0" y="3602736"/>
            <a:ext cx="2377440" cy="219456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77840" y="3657600"/>
            <a:ext cx="2194560" cy="1188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0D111D"/>
                </a:solidFill>
                <a:latin typeface="Aptos"/>
              </a:rPr>
              <a:t>subnet = 10.0.5.0/24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3950208"/>
            <a:ext cx="2377440" cy="219456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77840" y="4005072"/>
            <a:ext cx="2194560" cy="1188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0D111D"/>
                </a:solidFill>
                <a:latin typeface="Aptos"/>
              </a:rPr>
              <a:t>risk score = 64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4297679"/>
            <a:ext cx="2377440" cy="219456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7840" y="4352544"/>
            <a:ext cx="2194560" cy="1188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0D111D"/>
                </a:solidFill>
                <a:latin typeface="Aptos"/>
              </a:rPr>
              <a:t>critical-asset bypass = true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1080" y="2011680"/>
            <a:ext cx="274320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641080" y="2011680"/>
            <a:ext cx="73152" cy="86868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805672" y="2121408"/>
            <a:ext cx="25146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Why it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5672" y="2432304"/>
            <a:ext cx="2514600" cy="3566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Context changes both distance scoring and incident urgency.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41080" y="3154680"/>
            <a:ext cx="274320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641080" y="3154680"/>
            <a:ext cx="73152" cy="868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05672" y="3264408"/>
            <a:ext cx="25146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Suppression impact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05672" y="3575304"/>
            <a:ext cx="2514600" cy="3566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Critical assets can bypass normal suppression rules.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41080" y="4297680"/>
            <a:ext cx="274320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641080" y="4297680"/>
            <a:ext cx="73152" cy="868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805672" y="4407408"/>
            <a:ext cx="25146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Sales pitch angle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05672" y="4718304"/>
            <a:ext cx="2514600" cy="3566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A better incident is not only accurate; it is business-aware.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Suppression and aggregation remove known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12/24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10972800" cy="3017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0">
                <a:solidFill>
                  <a:srgbClr val="B4C0D2"/>
                </a:solidFill>
                <a:latin typeface="Aptos"/>
              </a:rPr>
              <a:t>A correlation engine is judged as much by what it excludes as by what it clusters.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166360" cy="96012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73152" cy="9601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92808"/>
            <a:ext cx="49377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Duplicate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03704"/>
            <a:ext cx="4937760" cy="4480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drop redundant repeats in a short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166360" cy="96012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783080"/>
            <a:ext cx="73152" cy="96012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892808"/>
            <a:ext cx="49377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Time-window aggregation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203704"/>
            <a:ext cx="4937760" cy="4480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roll identical repeats into one evidence item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08960"/>
            <a:ext cx="5166360" cy="96012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108960"/>
            <a:ext cx="73152" cy="9601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218688"/>
            <a:ext cx="49377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False-positive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529584"/>
            <a:ext cx="4937760" cy="4480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suppress known benign activity by IP, type, host, sensor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108960"/>
            <a:ext cx="5166360" cy="96012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108960"/>
            <a:ext cx="73152" cy="9601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3218688"/>
            <a:ext cx="49377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Critical-asset bypass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529584"/>
            <a:ext cx="4937760" cy="4480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do not suppress events from assets that must always be reviewed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4709160"/>
            <a:ext cx="8595360" cy="105156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920240" y="4864608"/>
            <a:ext cx="1280160" cy="228600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400" b="1">
                <a:solidFill>
                  <a:srgbClr val="F4F7FC"/>
                </a:solidFill>
                <a:latin typeface="Aptos"/>
              </a:rPr>
              <a:t>12 raw events</a:t>
            </a:r>
          </a:p>
        </p:txBody>
      </p:sp>
      <p:sp>
        <p:nvSpPr>
          <p:cNvPr id="25" name="Chevron 24"/>
          <p:cNvSpPr/>
          <p:nvPr/>
        </p:nvSpPr>
        <p:spPr>
          <a:xfrm>
            <a:off x="3291840" y="4892040"/>
            <a:ext cx="594360" cy="411480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069080" y="4864608"/>
            <a:ext cx="1600200" cy="228600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400" b="1">
                <a:solidFill>
                  <a:srgbClr val="F4F7FC"/>
                </a:solidFill>
                <a:latin typeface="Aptos"/>
              </a:rPr>
              <a:t>8 candidate events</a:t>
            </a:r>
          </a:p>
        </p:txBody>
      </p:sp>
      <p:sp>
        <p:nvSpPr>
          <p:cNvPr id="27" name="Chevron 26"/>
          <p:cNvSpPr/>
          <p:nvPr/>
        </p:nvSpPr>
        <p:spPr>
          <a:xfrm>
            <a:off x="5806440" y="4892040"/>
            <a:ext cx="594360" cy="411480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629400" y="4864608"/>
            <a:ext cx="1600200" cy="228600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400" b="1">
                <a:solidFill>
                  <a:srgbClr val="F4F7FC"/>
                </a:solidFill>
                <a:latin typeface="Aptos"/>
              </a:rPr>
              <a:t>5 clusterable events</a:t>
            </a:r>
          </a:p>
        </p:txBody>
      </p:sp>
      <p:sp>
        <p:nvSpPr>
          <p:cNvPr id="29" name="Chevron 28"/>
          <p:cNvSpPr/>
          <p:nvPr/>
        </p:nvSpPr>
        <p:spPr>
          <a:xfrm>
            <a:off x="8366760" y="4892040"/>
            <a:ext cx="594360" cy="411480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89720" y="4864608"/>
            <a:ext cx="960120" cy="228600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/>
          <a:lstStyle/>
          <a:p>
            <a:pPr algn="ctr"/>
            <a:r>
              <a:rPr sz="1400" b="1">
                <a:solidFill>
                  <a:srgbClr val="F4F7FC"/>
                </a:solidFill>
                <a:latin typeface="Aptos"/>
              </a:rPr>
              <a:t>1 incident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After suppression, events split into three possible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13/24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29000" cy="42062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73152" cy="420624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755648"/>
            <a:ext cx="32004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Correlation candidate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66544"/>
            <a:ext cx="3200400" cy="36941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enter distance calculation and clustering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468880"/>
            <a:ext cx="2651760" cy="310896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24712" y="2551176"/>
            <a:ext cx="2468880" cy="1280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NET1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2980944"/>
            <a:ext cx="2651760" cy="310896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4712" y="3063240"/>
            <a:ext cx="2468880" cy="1280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EDR2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493008"/>
            <a:ext cx="2651760" cy="310896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4712" y="3575304"/>
            <a:ext cx="2468880" cy="1280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OS3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4005072"/>
            <a:ext cx="2651760" cy="310896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" y="4087368"/>
            <a:ext cx="2468880" cy="1280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NET4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517136"/>
            <a:ext cx="2651760" cy="310896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24712" y="4599432"/>
            <a:ext cx="2468880" cy="1280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NET3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074920"/>
            <a:ext cx="28346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F4F7FC"/>
                </a:solidFill>
                <a:latin typeface="Aptos"/>
              </a:rPr>
              <a:t>These are the events that form the main incident example.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1645920"/>
            <a:ext cx="3429000" cy="42062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80560" y="1645920"/>
            <a:ext cx="73152" cy="4206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45152" y="1755648"/>
            <a:ext cx="32004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Separate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2066544"/>
            <a:ext cx="3200400" cy="36941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valid signal, but no close neighborhood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2468880"/>
            <a:ext cx="2651760" cy="310896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19472" y="2551176"/>
            <a:ext cx="2468880" cy="1280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RF5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5074920"/>
            <a:ext cx="28346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F4F7FC"/>
                </a:solidFill>
                <a:latin typeface="Aptos"/>
              </a:rPr>
              <a:t>Useful evidence can remain outside the main cluster.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1645920"/>
            <a:ext cx="3429000" cy="42062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75320" y="1645920"/>
            <a:ext cx="73152" cy="42062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39912" y="1755648"/>
            <a:ext cx="32004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Suppressed / FP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2" y="2066544"/>
            <a:ext cx="3200400" cy="36941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retained with traceability, excluded from correlation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41080" y="2468880"/>
            <a:ext cx="26517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14232" y="2551176"/>
            <a:ext cx="2468880" cy="1280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PATCH7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1080" y="2980944"/>
            <a:ext cx="2651760" cy="310896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14232" y="3063240"/>
            <a:ext cx="2468880" cy="1280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PATCH8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5074920"/>
            <a:ext cx="28346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F4F7FC"/>
                </a:solidFill>
                <a:latin typeface="Aptos"/>
              </a:rPr>
              <a:t>Suppression is deliberate exclusion, not data deletion.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High-level distance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14/24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4572000" cy="388620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11480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2800" b="1">
                <a:solidFill>
                  <a:srgbClr val="F4F7FC"/>
                </a:solidFill>
                <a:latin typeface="Aptos"/>
              </a:rPr>
              <a:t>D(Eᵢ, Eⱼ) = Σ (wₖ × dₖ)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411480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600" b="0">
                <a:solidFill>
                  <a:srgbClr val="B4C0D2"/>
                </a:solidFill>
                <a:latin typeface="Aptos"/>
              </a:rPr>
              <a:t>CorrEngine compares each event pair across weighted dimensions. A lower value means “closer” behavior; a higher value means “less likely to belong together.”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828800"/>
            <a:ext cx="11887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1">
                <a:solidFill>
                  <a:srgbClr val="F4F7FC"/>
                </a:solidFill>
                <a:latin typeface="Aptos"/>
              </a:rPr>
              <a:t>Temporal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1847088"/>
            <a:ext cx="384048" cy="201168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49840" y="1828800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514600"/>
            <a:ext cx="11887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1">
                <a:solidFill>
                  <a:srgbClr val="F4F7FC"/>
                </a:solidFill>
                <a:latin typeface="Aptos"/>
              </a:rPr>
              <a:t>Spatial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532888"/>
            <a:ext cx="320040" cy="20116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149840" y="2514600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200400"/>
            <a:ext cx="11887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1">
                <a:solidFill>
                  <a:srgbClr val="F4F7FC"/>
                </a:solidFill>
                <a:latin typeface="Aptos"/>
              </a:rPr>
              <a:t>MITRE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3218688"/>
            <a:ext cx="320040" cy="20116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49840" y="3200400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886200"/>
            <a:ext cx="11887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1">
                <a:solidFill>
                  <a:srgbClr val="F4F7FC"/>
                </a:solidFill>
                <a:latin typeface="Aptos"/>
              </a:rPr>
              <a:t>Sensor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3904488"/>
            <a:ext cx="128016" cy="20116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149840" y="3886200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4572000"/>
            <a:ext cx="11887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1">
                <a:solidFill>
                  <a:srgbClr val="F4F7FC"/>
                </a:solidFill>
                <a:latin typeface="Aptos"/>
              </a:rPr>
              <a:t>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4590288"/>
            <a:ext cx="128016" cy="201168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49840" y="4572000"/>
            <a:ext cx="45720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10%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5440680"/>
            <a:ext cx="5212080" cy="658368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06440" y="5440680"/>
            <a:ext cx="73152" cy="658368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71032" y="5550408"/>
            <a:ext cx="49834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Hidden low-level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71032" y="5861304"/>
            <a:ext cx="4983480" cy="1463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Exact normalization and edge cases remain implementation detail, not slide clutter.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What the five dimensions actually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15/24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074920" cy="91440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554480"/>
            <a:ext cx="73152" cy="91440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664208"/>
            <a:ext cx="4846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Temporal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75104"/>
            <a:ext cx="484632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How close are the event timestamps?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074920" cy="91440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73152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664208"/>
            <a:ext cx="4846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Spatial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975104"/>
            <a:ext cx="484632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Do the hostnames or subnets match?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5074920" cy="91440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2880360"/>
            <a:ext cx="73152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2990088"/>
            <a:ext cx="4846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MITRE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3300984"/>
            <a:ext cx="484632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Do they align to similar tactics?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880360"/>
            <a:ext cx="5074920" cy="91440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2880360"/>
            <a:ext cx="73152" cy="914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2990088"/>
            <a:ext cx="4846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Sensor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300984"/>
            <a:ext cx="484632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Do the sensor types match or differ?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4251960"/>
            <a:ext cx="5029200" cy="91440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566160" y="4251960"/>
            <a:ext cx="73152" cy="9144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30752" y="4361688"/>
            <a:ext cx="48006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0752" y="4672584"/>
            <a:ext cx="480060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Are the risk scores in a similar range?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23560"/>
            <a:ext cx="10789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500" b="0">
                <a:solidFill>
                  <a:srgbClr val="B4C0D2"/>
                </a:solidFill>
                <a:latin typeface="Aptos"/>
              </a:rPr>
              <a:t>In practice, no single dimension decides on its own. The score reflects combined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Distance matrix: who is close enough to be neighbors?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16/24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16152"/>
            <a:ext cx="107899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B4C0D2"/>
                </a:solidFill>
                <a:latin typeface="Aptos"/>
              </a:rPr>
              <a:t>Values below ε = 0.7 are highlighted as possible neighborhood links. This gives a visual bridge from the formula to clustering behavior.</a:t>
            </a:r>
          </a:p>
        </p:txBody>
      </p:sp>
      <p:pic>
        <p:nvPicPr>
          <p:cNvPr id="7" name="Picture 6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10698480" cy="68081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DBSCAN logic: core, border, and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17/24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6583680" cy="45262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71600" y="3017520"/>
            <a:ext cx="502920" cy="502920"/>
          </a:xfrm>
          <a:prstGeom prst="ellipse">
            <a:avLst/>
          </a:prstGeom>
          <a:solidFill>
            <a:srgbClr val="42D3FF"/>
          </a:solidFill>
          <a:ln>
            <a:solidFill>
              <a:srgbClr val="42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000" b="1">
                <a:solidFill>
                  <a:srgbClr val="0D111D"/>
                </a:solidFill>
                <a:latin typeface="Aptos"/>
              </a:rPr>
              <a:t>NET1</a:t>
            </a:r>
          </a:p>
        </p:txBody>
      </p:sp>
      <p:sp>
        <p:nvSpPr>
          <p:cNvPr id="8" name="Oval 7"/>
          <p:cNvSpPr/>
          <p:nvPr/>
        </p:nvSpPr>
        <p:spPr>
          <a:xfrm>
            <a:off x="2194560" y="2468880"/>
            <a:ext cx="502920" cy="502920"/>
          </a:xfrm>
          <a:prstGeom prst="ellipse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000" b="1">
                <a:solidFill>
                  <a:srgbClr val="0D111D"/>
                </a:solidFill>
                <a:latin typeface="Aptos"/>
              </a:rPr>
              <a:t>EDR2</a:t>
            </a:r>
          </a:p>
        </p:txBody>
      </p:sp>
      <p:sp>
        <p:nvSpPr>
          <p:cNvPr id="9" name="Oval 8"/>
          <p:cNvSpPr/>
          <p:nvPr/>
        </p:nvSpPr>
        <p:spPr>
          <a:xfrm>
            <a:off x="2377440" y="3520440"/>
            <a:ext cx="502920" cy="502920"/>
          </a:xfrm>
          <a:prstGeom prst="ellipse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000" b="1">
                <a:solidFill>
                  <a:srgbClr val="0D111D"/>
                </a:solidFill>
                <a:latin typeface="Aptos"/>
              </a:rPr>
              <a:t>OS3</a:t>
            </a:r>
          </a:p>
        </p:txBody>
      </p:sp>
      <p:sp>
        <p:nvSpPr>
          <p:cNvPr id="10" name="Oval 9"/>
          <p:cNvSpPr/>
          <p:nvPr/>
        </p:nvSpPr>
        <p:spPr>
          <a:xfrm>
            <a:off x="3200400" y="2971800"/>
            <a:ext cx="502920" cy="502920"/>
          </a:xfrm>
          <a:prstGeom prst="ellipse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000" b="1">
                <a:solidFill>
                  <a:srgbClr val="0D111D"/>
                </a:solidFill>
                <a:latin typeface="Aptos"/>
              </a:rPr>
              <a:t>NET4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2423160"/>
            <a:ext cx="502920" cy="502920"/>
          </a:xfrm>
          <a:prstGeom prst="ellipse">
            <a:avLst/>
          </a:prstGeom>
          <a:solidFill>
            <a:srgbClr val="2DD4BF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000" b="1">
                <a:solidFill>
                  <a:srgbClr val="0D111D"/>
                </a:solidFill>
                <a:latin typeface="Aptos"/>
              </a:rPr>
              <a:t>NET3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0" y="4389120"/>
            <a:ext cx="502920" cy="502920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r>
              <a:rPr sz="1000" b="1">
                <a:solidFill>
                  <a:srgbClr val="0D111D"/>
                </a:solidFill>
                <a:latin typeface="Aptos"/>
              </a:rPr>
              <a:t>RF5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011680"/>
            <a:ext cx="3017520" cy="2286000"/>
          </a:xfrm>
          <a:prstGeom prst="ellipse">
            <a:avLst/>
          </a:prstGeom>
          <a:noFill/>
          <a:ln w="31750">
            <a:solidFill>
              <a:srgbClr val="42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1828800"/>
            <a:ext cx="9144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42D3FF"/>
                </a:solidFill>
                <a:latin typeface="Aptos"/>
              </a:rPr>
              <a:t>ε-neighborhood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828800"/>
            <a:ext cx="356616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1828800"/>
            <a:ext cx="73152" cy="86868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99832" y="1938528"/>
            <a:ext cx="33375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Core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2" y="2249424"/>
            <a:ext cx="3337560" cy="3566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enough neighbors within 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3017520"/>
            <a:ext cx="356616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35240" y="3017520"/>
            <a:ext cx="73152" cy="868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99832" y="3127248"/>
            <a:ext cx="33375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Border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2" y="3438144"/>
            <a:ext cx="3337560" cy="3566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close to a core, but with fewer neighbors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4206240"/>
            <a:ext cx="356616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635240" y="4206240"/>
            <a:ext cx="73152" cy="8686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99832" y="4315968"/>
            <a:ext cx="33375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Noise / outlier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9832" y="4626864"/>
            <a:ext cx="3337560" cy="3566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not within a dense neighborhood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5440680"/>
            <a:ext cx="3566160" cy="658368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35240" y="5440680"/>
            <a:ext cx="73152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99832" y="5550408"/>
            <a:ext cx="33375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Why DBSCAN fits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9832" y="5861304"/>
            <a:ext cx="3337560" cy="1463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It discovers clusters without forcing every event into a group.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Worked example: Cluster 1 forms a multi-stage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18/24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554480"/>
            <a:ext cx="6720840" cy="45262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43000" y="2011680"/>
            <a:ext cx="1920240" cy="2651760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2176272"/>
            <a:ext cx="15544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800" b="1">
                <a:solidFill>
                  <a:srgbClr val="F4F7FC"/>
                </a:solidFill>
                <a:latin typeface="Aptos"/>
              </a:rPr>
              <a:t>SRV-DB01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2606040"/>
            <a:ext cx="1371600" cy="2560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08760" y="2679192"/>
            <a:ext cx="1188720" cy="109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1">
                <a:solidFill>
                  <a:srgbClr val="0D111D"/>
                </a:solidFill>
                <a:latin typeface="Aptos"/>
              </a:rPr>
              <a:t>EDR2 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3026664"/>
            <a:ext cx="1371600" cy="25603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3099816"/>
            <a:ext cx="1188720" cy="109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1">
                <a:solidFill>
                  <a:srgbClr val="0D111D"/>
                </a:solidFill>
                <a:latin typeface="Aptos"/>
              </a:rPr>
              <a:t>OS3  defense evasion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17320" y="3447288"/>
            <a:ext cx="1371600" cy="256032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08760" y="3520440"/>
            <a:ext cx="1188720" cy="109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1">
                <a:solidFill>
                  <a:srgbClr val="0D111D"/>
                </a:solidFill>
                <a:latin typeface="Aptos"/>
              </a:rPr>
              <a:t>NET1  command and control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17320" y="3867912"/>
            <a:ext cx="1371600" cy="25603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08760" y="3941064"/>
            <a:ext cx="1188720" cy="109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1">
                <a:solidFill>
                  <a:srgbClr val="0D111D"/>
                </a:solidFill>
                <a:latin typeface="Aptos"/>
              </a:rPr>
              <a:t>NET4  exfiltration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2514600"/>
            <a:ext cx="1737360" cy="1188720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0560" y="2834640"/>
            <a:ext cx="128016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800" b="1">
                <a:solidFill>
                  <a:srgbClr val="F4F7FC"/>
                </a:solidFill>
                <a:latin typeface="Aptos"/>
              </a:rPr>
              <a:t>NET1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154680"/>
            <a:ext cx="146304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42D3FF"/>
                </a:solidFill>
                <a:latin typeface="Aptos"/>
              </a:rPr>
              <a:t>bridging core point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2103120"/>
            <a:ext cx="1463040" cy="1051560"/>
          </a:xfrm>
          <a:prstGeom prst="round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2423160"/>
            <a:ext cx="109728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800" b="1">
                <a:solidFill>
                  <a:srgbClr val="F4F7FC"/>
                </a:solidFill>
                <a:latin typeface="Aptos"/>
              </a:rPr>
              <a:t>NET3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743200"/>
            <a:ext cx="1325880" cy="1554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FBBF24"/>
                </a:solidFill>
                <a:latin typeface="Aptos"/>
              </a:rPr>
              <a:t>ENG-WS17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3063240" y="3154680"/>
            <a:ext cx="1188720" cy="91440"/>
          </a:xfrm>
          <a:prstGeom prst="line">
            <a:avLst/>
          </a:prstGeom>
          <a:ln w="38100">
            <a:solidFill>
              <a:srgbClr val="42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989320" y="2697480"/>
            <a:ext cx="320040" cy="365760"/>
          </a:xfrm>
          <a:prstGeom prst="line">
            <a:avLst/>
          </a:prstGeom>
          <a:ln w="38100">
            <a:solidFill>
              <a:srgbClr val="42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818120" y="1783080"/>
            <a:ext cx="342900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818120" y="1783080"/>
            <a:ext cx="73152" cy="8686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82712" y="1892808"/>
            <a:ext cx="32004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Observed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712" y="2203704"/>
            <a:ext cx="3200400" cy="3566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Five events join into one attack narrative.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2926080"/>
            <a:ext cx="342900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18120" y="2926080"/>
            <a:ext cx="73152" cy="86868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82712" y="3035808"/>
            <a:ext cx="32004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Why it joins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82712" y="3346704"/>
            <a:ext cx="3200400" cy="3566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Host overlap, timing, tactics, sensor complementarity, and risk similarity.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4069080"/>
            <a:ext cx="3429000" cy="86868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818120" y="4069080"/>
            <a:ext cx="73152" cy="8686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82712" y="4178808"/>
            <a:ext cx="32004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Operational meaning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2712" y="4489704"/>
            <a:ext cx="3200400" cy="3566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Analysts receive one incident instead of several disconnected alerts.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Not correlated does not always mean unimportant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19/24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10058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3152" cy="10058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847088"/>
            <a:ext cx="104698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RF5 → separate incident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157984"/>
            <a:ext cx="10469880" cy="4937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Valid anomaly, but no close neighborhood. It should become its own investigation path.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901952"/>
            <a:ext cx="1417320" cy="384048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70848" y="2020824"/>
            <a:ext cx="1188720" cy="109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INC-002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10698480" cy="10058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154680"/>
            <a:ext cx="73152" cy="10058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264408"/>
            <a:ext cx="104698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PATCH7 / PATCH8 → suppressed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575304"/>
            <a:ext cx="10469880" cy="4937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Known benign maintenance. These events remain traceable but never enter clustering.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319272"/>
            <a:ext cx="1417320" cy="384048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70848" y="3438144"/>
            <a:ext cx="1188720" cy="109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SUPPRESSED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10698480" cy="10058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572000"/>
            <a:ext cx="73152" cy="1005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681728"/>
            <a:ext cx="104698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Future lone signal → hold for later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992624"/>
            <a:ext cx="10469880" cy="4937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A valid event can remain outside the main cluster and still matter if more evidence arrives.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4736592"/>
            <a:ext cx="1417320" cy="384048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70848" y="4855464"/>
            <a:ext cx="1188720" cy="109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200" b="1">
                <a:solidFill>
                  <a:srgbClr val="0D111D"/>
                </a:solidFill>
                <a:latin typeface="Aptos"/>
              </a:rPr>
              <a:t>PENDING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Incident lifecycle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20/24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3108960"/>
            <a:ext cx="1417320" cy="594360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3300984"/>
            <a:ext cx="13258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new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28800"/>
            <a:ext cx="1417320" cy="59436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8920" y="2020824"/>
            <a:ext cx="13258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in_progress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108960"/>
            <a:ext cx="1417320" cy="59436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00600" y="3300984"/>
            <a:ext cx="13258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escalated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1828800"/>
            <a:ext cx="1417320" cy="59436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12280" y="2020824"/>
            <a:ext cx="13258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resolved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3108960"/>
            <a:ext cx="1417320" cy="594360"/>
          </a:xfrm>
          <a:prstGeom prst="roundRect">
            <a:avLst/>
          </a:prstGeom>
          <a:solidFill>
            <a:srgbClr val="566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23960" y="3300984"/>
            <a:ext cx="132588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F4F7FC"/>
                </a:solidFill>
                <a:latin typeface="Aptos"/>
              </a:rPr>
              <a:t>closed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331720" y="2121408"/>
            <a:ext cx="411480" cy="1280160"/>
          </a:xfrm>
          <a:prstGeom prst="line">
            <a:avLst/>
          </a:prstGeom>
          <a:ln w="30480">
            <a:solidFill>
              <a:srgbClr val="42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17420" y="2596896"/>
            <a:ext cx="82296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B4C0D2"/>
                </a:solidFill>
                <a:latin typeface="Aptos"/>
              </a:rPr>
              <a:t>triage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160520" y="2121408"/>
            <a:ext cx="594360" cy="1280160"/>
          </a:xfrm>
          <a:prstGeom prst="line">
            <a:avLst/>
          </a:prstGeom>
          <a:ln w="30480">
            <a:solidFill>
              <a:srgbClr val="42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137660" y="2596896"/>
            <a:ext cx="82296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B4C0D2"/>
                </a:solidFill>
                <a:latin typeface="Aptos"/>
              </a:rPr>
              <a:t>threshold / critical asset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6172200" y="2121408"/>
            <a:ext cx="594360" cy="1280160"/>
          </a:xfrm>
          <a:prstGeom prst="line">
            <a:avLst/>
          </a:prstGeom>
          <a:ln w="30480">
            <a:solidFill>
              <a:srgbClr val="42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49340" y="2596896"/>
            <a:ext cx="82296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B4C0D2"/>
                </a:solidFill>
                <a:latin typeface="Aptos"/>
              </a:rPr>
              <a:t>response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183879" y="2121408"/>
            <a:ext cx="594361" cy="1280160"/>
          </a:xfrm>
          <a:prstGeom prst="line">
            <a:avLst/>
          </a:prstGeom>
          <a:ln w="30480">
            <a:solidFill>
              <a:srgbClr val="42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161019" y="2596896"/>
            <a:ext cx="82296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B4C0D2"/>
                </a:solidFill>
                <a:latin typeface="Aptos"/>
              </a:rPr>
              <a:t>closure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120640"/>
            <a:ext cx="3291840" cy="73152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68680" y="5120640"/>
            <a:ext cx="73152" cy="7315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3272" y="5230368"/>
            <a:ext cx="30632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Merge logic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" y="5541264"/>
            <a:ext cx="3063240" cy="2194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Incidents sharing &gt;50% of events can be merged.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5120640"/>
            <a:ext cx="3291840" cy="73152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34840" y="5120640"/>
            <a:ext cx="73152" cy="7315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99432" y="5230368"/>
            <a:ext cx="30632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Escalation rule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9432" y="5541264"/>
            <a:ext cx="3063240" cy="2194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Aggregate risk or critical-asset involvement can auto-escalate.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01000" y="5120640"/>
            <a:ext cx="3291840" cy="73152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01000" y="5120640"/>
            <a:ext cx="73152" cy="73152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65592" y="5230368"/>
            <a:ext cx="30632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Why this matters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65592" y="5541264"/>
            <a:ext cx="3063240" cy="21945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Correlation without lifecycle control is still unfinished operations.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Business value and engineering value align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21/24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12344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123444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755648"/>
            <a:ext cx="48920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Fewer 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66544"/>
            <a:ext cx="4892040" cy="7223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noise reduction reduces analyst fatigue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120640" cy="12344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73152" cy="123444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755648"/>
            <a:ext cx="48920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Richer incidents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066544"/>
            <a:ext cx="4892040" cy="7223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multi-sensor context improves triage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5120640" cy="12344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291840"/>
            <a:ext cx="73152" cy="1234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401568"/>
            <a:ext cx="48920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Explainable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712464"/>
            <a:ext cx="4892040" cy="7223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distance dimensions can be shown to users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91840"/>
            <a:ext cx="5120640" cy="12344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291840"/>
            <a:ext cx="73152" cy="1234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3401568"/>
            <a:ext cx="48920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Operational trust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712464"/>
            <a:ext cx="4892040" cy="7223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durability + lifecycle create auditability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5120640"/>
            <a:ext cx="3840480" cy="658368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79392" y="5330952"/>
            <a:ext cx="3520440" cy="1645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600" b="1">
                <a:solidFill>
                  <a:srgbClr val="F4F7FC"/>
                </a:solidFill>
                <a:latin typeface="Aptos"/>
              </a:rPr>
              <a:t>Raw telemetry → incident-grade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High-level module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22/24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1554480" cy="868680"/>
          </a:xfrm>
          <a:prstGeom prst="round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2313432"/>
            <a:ext cx="1408176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Event ingestion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011680"/>
            <a:ext cx="1554480" cy="86868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16352" y="2313432"/>
            <a:ext cx="1408176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Normalization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011680"/>
            <a:ext cx="1554480" cy="86868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2313432"/>
            <a:ext cx="1408176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Suppression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011680"/>
            <a:ext cx="1554480" cy="86868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2313432"/>
            <a:ext cx="1408176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Correlation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011680"/>
            <a:ext cx="1554480" cy="86868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02752" y="2313432"/>
            <a:ext cx="1408176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300" b="1">
                <a:solidFill>
                  <a:srgbClr val="0D111D"/>
                </a:solidFill>
                <a:latin typeface="Aptos"/>
              </a:rPr>
              <a:t>Incident manager</a:t>
            </a:r>
          </a:p>
        </p:txBody>
      </p:sp>
      <p:sp>
        <p:nvSpPr>
          <p:cNvPr id="16" name="Chevron 15"/>
          <p:cNvSpPr/>
          <p:nvPr/>
        </p:nvSpPr>
        <p:spPr>
          <a:xfrm>
            <a:off x="2514600" y="2258568"/>
            <a:ext cx="438912" cy="329184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hevron 16"/>
          <p:cNvSpPr/>
          <p:nvPr/>
        </p:nvSpPr>
        <p:spPr>
          <a:xfrm>
            <a:off x="4343400" y="2258568"/>
            <a:ext cx="438912" cy="329184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hevron 17"/>
          <p:cNvSpPr/>
          <p:nvPr/>
        </p:nvSpPr>
        <p:spPr>
          <a:xfrm>
            <a:off x="6172200" y="2258568"/>
            <a:ext cx="438912" cy="329184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hevron 18"/>
          <p:cNvSpPr/>
          <p:nvPr/>
        </p:nvSpPr>
        <p:spPr>
          <a:xfrm>
            <a:off x="8001000" y="2258568"/>
            <a:ext cx="438912" cy="329184"/>
          </a:xfrm>
          <a:prstGeom prst="chevron">
            <a:avLst/>
          </a:prstGeom>
          <a:solidFill>
            <a:srgbClr val="202A41"/>
          </a:solidFill>
          <a:ln>
            <a:solidFill>
              <a:srgbClr val="20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617720" y="960120"/>
            <a:ext cx="2880360" cy="566928"/>
          </a:xfrm>
          <a:prstGeom prst="roundRect">
            <a:avLst/>
          </a:prstGeom>
          <a:solidFill>
            <a:srgbClr val="566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1143000"/>
            <a:ext cx="2560320" cy="1463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400" b="1">
                <a:solidFill>
                  <a:srgbClr val="F4F7FC"/>
                </a:solidFill>
                <a:latin typeface="Aptos"/>
              </a:rPr>
              <a:t>Pub/sub message broker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3840480"/>
            <a:ext cx="2880360" cy="566928"/>
          </a:xfrm>
          <a:prstGeom prst="roundRect">
            <a:avLst/>
          </a:prstGeom>
          <a:solidFill>
            <a:srgbClr val="5665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92040" y="4023360"/>
            <a:ext cx="2377440" cy="1463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400" b="1">
                <a:solidFill>
                  <a:srgbClr val="F4F7FC"/>
                </a:solidFill>
                <a:latin typeface="Aptos"/>
              </a:rPr>
              <a:t>Sequential database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91640" y="1527048"/>
            <a:ext cx="0" cy="466344"/>
          </a:xfrm>
          <a:prstGeom prst="line">
            <a:avLst/>
          </a:prstGeom>
          <a:ln w="22860">
            <a:solidFill>
              <a:srgbClr val="20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691640" y="2880360"/>
            <a:ext cx="0" cy="960120"/>
          </a:xfrm>
          <a:prstGeom prst="line">
            <a:avLst/>
          </a:prstGeom>
          <a:ln w="22860">
            <a:solidFill>
              <a:srgbClr val="20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20440" y="1527048"/>
            <a:ext cx="0" cy="466344"/>
          </a:xfrm>
          <a:prstGeom prst="line">
            <a:avLst/>
          </a:prstGeom>
          <a:ln w="22860">
            <a:solidFill>
              <a:srgbClr val="20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520440" y="2880360"/>
            <a:ext cx="0" cy="960120"/>
          </a:xfrm>
          <a:prstGeom prst="line">
            <a:avLst/>
          </a:prstGeom>
          <a:ln w="22860">
            <a:solidFill>
              <a:srgbClr val="20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349240" y="1527048"/>
            <a:ext cx="0" cy="466344"/>
          </a:xfrm>
          <a:prstGeom prst="line">
            <a:avLst/>
          </a:prstGeom>
          <a:ln w="22860">
            <a:solidFill>
              <a:srgbClr val="20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349240" y="2880360"/>
            <a:ext cx="0" cy="960120"/>
          </a:xfrm>
          <a:prstGeom prst="line">
            <a:avLst/>
          </a:prstGeom>
          <a:ln w="22860">
            <a:solidFill>
              <a:srgbClr val="20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178040" y="1527048"/>
            <a:ext cx="0" cy="466344"/>
          </a:xfrm>
          <a:prstGeom prst="line">
            <a:avLst/>
          </a:prstGeom>
          <a:ln w="22860">
            <a:solidFill>
              <a:srgbClr val="20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178040" y="2880360"/>
            <a:ext cx="0" cy="960120"/>
          </a:xfrm>
          <a:prstGeom prst="line">
            <a:avLst/>
          </a:prstGeom>
          <a:ln w="22860">
            <a:solidFill>
              <a:srgbClr val="20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006840" y="1527048"/>
            <a:ext cx="0" cy="466344"/>
          </a:xfrm>
          <a:prstGeom prst="line">
            <a:avLst/>
          </a:prstGeom>
          <a:ln w="22860">
            <a:solidFill>
              <a:srgbClr val="20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006840" y="2880360"/>
            <a:ext cx="0" cy="960120"/>
          </a:xfrm>
          <a:prstGeom prst="line">
            <a:avLst/>
          </a:prstGeom>
          <a:ln w="22860">
            <a:solidFill>
              <a:srgbClr val="20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Risks and operational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23/24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074920" cy="14630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73152" cy="14630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755648"/>
            <a:ext cx="4846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Message loss before 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66544"/>
            <a:ext cx="4846320" cy="9509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Use durable handling, retries, and visibility into failures.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074920" cy="14630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73152" cy="14630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755648"/>
            <a:ext cx="4846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High-density clustering slowdown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066544"/>
            <a:ext cx="4846320" cy="9509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Validate parameter defaults and scaling behavior.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5074920" cy="14630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73152" cy="1463040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584448"/>
            <a:ext cx="4846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Schema evolution breaks ingest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895344"/>
            <a:ext cx="4846320" cy="9509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Version payloads and test compatibility.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5074920" cy="1463040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474720"/>
            <a:ext cx="73152" cy="14630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3584448"/>
            <a:ext cx="4846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Feedback loops / event storms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895344"/>
            <a:ext cx="4846320" cy="9509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Block self-generated re-entry and control amplification.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440680"/>
            <a:ext cx="10561320" cy="658368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5440680"/>
            <a:ext cx="73152" cy="65836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5550408"/>
            <a:ext cx="103327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Takeaway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861304"/>
            <a:ext cx="10332720" cy="1463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Accuracy is necessary, but production readiness depends on resilient event handling and guardrails.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Architecture + value narrative | Redesigned deck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77724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1">
                <a:solidFill>
                  <a:srgbClr val="42D3FF"/>
                </a:solidFill>
                <a:latin typeface="Aptos"/>
              </a:rPr>
              <a:t>CORRELATION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12064"/>
            <a:ext cx="978408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600" b="1">
                <a:solidFill>
                  <a:srgbClr val="F4F7FC"/>
                </a:solidFill>
                <a:latin typeface="Aptos"/>
              </a:rPr>
              <a:t>Final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256032"/>
            <a:ext cx="14173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200" b="0">
                <a:solidFill>
                  <a:srgbClr val="B4C0D2"/>
                </a:solidFill>
                <a:latin typeface="Aptos"/>
              </a:rPr>
              <a:t>24/24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987552"/>
            <a:ext cx="11338560" cy="18288"/>
          </a:xfrm>
          <a:prstGeom prst="rect">
            <a:avLst/>
          </a:prstGeom>
          <a:solidFill>
            <a:srgbClr val="20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051560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2800" b="1">
                <a:solidFill>
                  <a:srgbClr val="F4F7FC"/>
                </a:solidFill>
                <a:latin typeface="Aptos"/>
              </a:rPr>
              <a:t>Correlation is the bridge between telemetry and 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23160"/>
            <a:ext cx="10241280" cy="749808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2423160"/>
            <a:ext cx="73152" cy="749808"/>
          </a:xfrm>
          <a:prstGeom prst="rect">
            <a:avLst/>
          </a:prstGeom>
          <a:solidFill>
            <a:srgbClr val="42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78992" y="2532888"/>
            <a:ext cx="100126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Start with ambiguity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843784"/>
            <a:ext cx="10012680" cy="2377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Independent events arrive in parallel.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74720"/>
            <a:ext cx="10241280" cy="749808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" y="3474720"/>
            <a:ext cx="73152" cy="7498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3584448"/>
            <a:ext cx="100126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Earn the cluster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895344"/>
            <a:ext cx="10012680" cy="2377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Validation, normalization, suppression, and distance scoring prove similarity.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526279"/>
            <a:ext cx="10241280" cy="749808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4526279"/>
            <a:ext cx="73152" cy="7498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" y="4636007"/>
            <a:ext cx="100126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End with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946903"/>
            <a:ext cx="10012680" cy="23774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B4C0D2"/>
                </a:solidFill>
                <a:latin typeface="Aptos"/>
              </a:rPr>
              <a:t>The output is an incident story with lifecycle control.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5715000"/>
            <a:ext cx="5394960" cy="566928"/>
          </a:xfrm>
          <a:prstGeom prst="roundRect">
            <a:avLst/>
          </a:prstGeom>
          <a:solidFill>
            <a:srgbClr val="181F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93008" y="5916168"/>
            <a:ext cx="5074920" cy="14630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600" b="1">
                <a:solidFill>
                  <a:srgbClr val="F4F7FC"/>
                </a:solidFill>
                <a:latin typeface="Aptos"/>
              </a:rPr>
              <a:t>CorrEngine turns parallel observations into explainable incidents.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473952"/>
            <a:ext cx="7315200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7887A2"/>
                </a:solidFill>
                <a:latin typeface="Aptos"/>
              </a:rPr>
              <a:t>CorrEngine | End of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2029</Words>
  <Application>Microsoft Office PowerPoint</Application>
  <PresentationFormat>Widescreen</PresentationFormat>
  <Paragraphs>422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Felix Kr</cp:lastModifiedBy>
  <cp:revision>2</cp:revision>
  <dcterms:created xsi:type="dcterms:W3CDTF">2013-01-27T09:14:16Z</dcterms:created>
  <dcterms:modified xsi:type="dcterms:W3CDTF">2026-05-03T04:25:25Z</dcterms:modified>
  <cp:category/>
</cp:coreProperties>
</file>